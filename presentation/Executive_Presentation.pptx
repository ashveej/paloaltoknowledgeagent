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A5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32004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A58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E0410F"/>
                </a:solidFill>
                <a:latin typeface="Arial"/>
              </a:rPr>
              <a:t>TECHNICAL PM PANEL · 60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A1D24"/>
                </a:solidFill>
                <a:latin typeface="Arial"/>
              </a:rPr>
              <a:t>Evidence-Governed Knowledge Agent</a:t>
            </a:r>
          </a:p>
          <a:p>
            <a:r>
              <a:rPr sz="4200" b="1" i="0">
                <a:solidFill>
                  <a:srgbClr val="1A1D24"/>
                </a:solidFill>
                <a:latin typeface="Arial"/>
              </a:rPr>
              <a:t>for Technical Sales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10241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333842"/>
                </a:solidFill>
                <a:latin typeface="Arial"/>
              </a:rPr>
              <a:t>An evidence-governed RAG product — not a chatbot. Every answer is grounded in approved sources, cites the exact text, and carries a </a:t>
            </a:r>
            <a:r>
              <a:rPr sz="1800" b="1" i="0">
                <a:solidFill>
                  <a:srgbClr val="1A1D24"/>
                </a:solidFill>
                <a:latin typeface="Arial"/>
              </a:rPr>
              <a:t>deterministically-calculated</a:t>
            </a:r>
            <a:r>
              <a:rPr sz="1800" b="0" i="0">
                <a:solidFill>
                  <a:srgbClr val="333842"/>
                </a:solidFill>
                <a:latin typeface="Arial"/>
              </a:rPr>
              <a:t> confidence score. Weak evidence routes to an SME, whose answer becomes reusable knowledge.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97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B7280"/>
                </a:solidFill>
                <a:latin typeface="Arial"/>
              </a:rPr>
              <a:t>Built spec-driven (Claude Code + Markdown specs) · FastAPI · LanceDB · Claude Opus 4.8 / Haiku 4.5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E0410F"/>
                </a:solidFill>
                <a:latin typeface="Arial"/>
              </a:rPr>
              <a:t>AGENDA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914400"/>
            <a:ext cx="146304" cy="457200"/>
          </a:xfrm>
          <a:prstGeom prst="roundRect">
            <a:avLst/>
          </a:prstGeom>
          <a:solidFill>
            <a:srgbClr val="FA5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8229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A1D24"/>
                </a:solidFill>
                <a:latin typeface="Arial"/>
              </a:rPr>
              <a:t>How I'll use the 60 minutes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2103120"/>
          <a:ext cx="104241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188720"/>
                <a:gridCol w="6217920"/>
              </a:tblGrid>
              <a:tr h="39624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Section</a:t>
                      </a:r>
                    </a:p>
                  </a:txBody>
                  <a:tcPr>
                    <a:solidFill>
                      <a:srgbClr val="1A1D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Time</a:t>
                      </a:r>
                    </a:p>
                  </a:txBody>
                  <a:tcPr>
                    <a:solidFill>
                      <a:srgbClr val="1A1D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What I'll cover</a:t>
                      </a:r>
                    </a:p>
                  </a:txBody>
                  <a:tcPr>
                    <a:solidFill>
                      <a:srgbClr val="1A1D2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E0410F"/>
                          </a:solidFill>
                          <a:latin typeface="Arial"/>
                        </a:rPr>
                        <a:t>1 · Introduction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D24"/>
                          </a:solidFill>
                          <a:latin typeface="Arial"/>
                        </a:rPr>
                        <a:t>5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D24"/>
                          </a:solidFill>
                          <a:latin typeface="Arial"/>
                        </a:rPr>
                        <a:t>My background &amp; Technical-PM philosophy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E0410F"/>
                          </a:solidFill>
                          <a:latin typeface="Arial"/>
                        </a:rPr>
                        <a:t>2 · Context &amp; Problem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D24"/>
                          </a:solidFill>
                          <a:latin typeface="Arial"/>
                        </a:rPr>
                        <a:t>5 min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D24"/>
                          </a:solidFill>
                          <a:latin typeface="Arial"/>
                        </a:rPr>
                        <a:t>The task (RAG) and the core user pain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E0410F"/>
                          </a:solidFill>
                          <a:latin typeface="Arial"/>
                        </a:rPr>
                        <a:t>3 · Technical Deep Dive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D24"/>
                          </a:solidFill>
                          <a:latin typeface="Arial"/>
                        </a:rPr>
                        <a:t>15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D24"/>
                          </a:solidFill>
                          <a:latin typeface="Arial"/>
                        </a:rPr>
                        <a:t>Data strategy · system design &amp; trade-offs · human-in-the-loop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E0410F"/>
                          </a:solidFill>
                          <a:latin typeface="Arial"/>
                        </a:rPr>
                        <a:t>4 · Evaluation &amp; Results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D24"/>
                          </a:solidFill>
                          <a:latin typeface="Arial"/>
                        </a:rPr>
                        <a:t>10 min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D24"/>
                          </a:solidFill>
                          <a:latin typeface="Arial"/>
                        </a:rPr>
                        <a:t>Metrics tied to KPIs · hard truths · retrospective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E0410F"/>
                          </a:solidFill>
                          <a:latin typeface="Arial"/>
                        </a:rPr>
                        <a:t>5 · Q&amp;A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D24"/>
                          </a:solidFill>
                          <a:latin typeface="Arial"/>
                        </a:rPr>
                        <a:t>25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D24"/>
                          </a:solidFill>
                          <a:latin typeface="Arial"/>
                        </a:rPr>
                        <a:t>Your questions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6B7280"/>
                </a:solidFill>
                <a:latin typeface="Arial"/>
              </a:rPr>
              <a:t>paloalto  ·  Knowledge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Arial"/>
              </a:rPr>
              <a:t>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A5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E0410F"/>
                </a:solidFill>
                <a:latin typeface="Arial"/>
              </a:rPr>
              <a:t>SECTION 1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2788920"/>
            <a:ext cx="164592" cy="868680"/>
          </a:xfrm>
          <a:prstGeom prst="roundRect">
            <a:avLst/>
          </a:prstGeom>
          <a:solidFill>
            <a:srgbClr val="FA5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65176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A1D24"/>
                </a:solidFill>
                <a:latin typeface="Arial"/>
              </a:rPr>
              <a:t>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886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6B7280"/>
                </a:solidFill>
                <a:latin typeface="Arial"/>
              </a:rPr>
              <a:t>5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88720" y="4663440"/>
            <a:ext cx="960120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17320" y="4828032"/>
            <a:ext cx="9144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1A1D24"/>
                </a:solidFill>
                <a:latin typeface="Arial"/>
              </a:rPr>
              <a:t>Focus areas:</a:t>
            </a:r>
            <a:r>
              <a:rPr sz="1400" b="0" i="0">
                <a:solidFill>
                  <a:srgbClr val="1A1D24"/>
                </a:solidFill>
                <a:latin typeface="Arial"/>
              </a:rPr>
              <a:t> My background · my Technical-PM philosophy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E0410F"/>
                </a:solidFill>
                <a:latin typeface="Arial"/>
              </a:rPr>
              <a:t>INTRODUCTION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914400"/>
            <a:ext cx="146304" cy="457200"/>
          </a:xfrm>
          <a:prstGeom prst="roundRect">
            <a:avLst/>
          </a:prstGeom>
          <a:solidFill>
            <a:srgbClr val="FA5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8229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A1D24"/>
                </a:solidFill>
                <a:latin typeface="Arial"/>
              </a:rPr>
              <a:t>My background &amp; Technical-PM philosophy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011680"/>
            <a:ext cx="5120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5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500" b="1" i="0">
                <a:solidFill>
                  <a:srgbClr val="1A1D24"/>
                </a:solidFill>
                <a:latin typeface="Arial"/>
              </a:rPr>
              <a:t>Background:</a:t>
            </a:r>
            <a:r>
              <a:rPr sz="1500" b="0" i="0">
                <a:solidFill>
                  <a:srgbClr val="1A1D24"/>
                </a:solidFill>
                <a:latin typeface="Arial"/>
              </a:rPr>
              <a:t> CRM / Salesforce PM — I've shipped knowledge and routing systems for sales teams.</a:t>
            </a:r>
          </a:p>
          <a:p>
            <a:pPr>
              <a:spcAft>
                <a:spcPts val="1100"/>
              </a:spcAft>
            </a:pPr>
            <a:r>
              <a:rPr sz="15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500" b="0" i="0">
                <a:solidFill>
                  <a:srgbClr val="1A1D24"/>
                </a:solidFill>
                <a:latin typeface="Arial"/>
              </a:rPr>
              <a:t>This product is those patterns rebuilt for AI: </a:t>
            </a:r>
            <a:r>
              <a:rPr sz="1500" b="1" i="0">
                <a:solidFill>
                  <a:srgbClr val="1A1D24"/>
                </a:solidFill>
                <a:latin typeface="Arial"/>
              </a:rPr>
              <a:t>Knowledge articles, Omni-Channel routing, approval flows, scoring</a:t>
            </a:r>
            <a:r>
              <a:rPr sz="1500" b="0" i="0">
                <a:solidFill>
                  <a:srgbClr val="1A1D24"/>
                </a:solidFill>
                <a:latin typeface="Arial"/>
              </a:rPr>
              <a:t> — now grounded in an LLM.</a:t>
            </a:r>
          </a:p>
          <a:p>
            <a:pPr>
              <a:spcAft>
                <a:spcPts val="1100"/>
              </a:spcAft>
            </a:pPr>
            <a:r>
              <a:rPr sz="15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500" b="0" i="0">
                <a:solidFill>
                  <a:srgbClr val="1A1D24"/>
                </a:solidFill>
                <a:latin typeface="Arial"/>
              </a:rPr>
              <a:t>New to the AI stack; I learned it by building this end-to-end.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2011680"/>
            <a:ext cx="5029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5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500" b="1" i="0">
                <a:solidFill>
                  <a:srgbClr val="1A1D24"/>
                </a:solidFill>
                <a:latin typeface="Arial"/>
              </a:rPr>
              <a:t>My operating system as a Technical PM:</a:t>
            </a:r>
          </a:p>
          <a:p>
            <a:pPr>
              <a:spcAft>
                <a:spcPts val="1100"/>
              </a:spcAft>
            </a:pPr>
            <a:r>
              <a:rPr sz="15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500" b="1" i="0">
                <a:solidFill>
                  <a:srgbClr val="1A1D24"/>
                </a:solidFill>
                <a:latin typeface="Arial"/>
              </a:rPr>
              <a:t>Slice the risk</a:t>
            </a:r>
            <a:r>
              <a:rPr sz="1500" b="0" i="0">
                <a:solidFill>
                  <a:srgbClr val="1A1D24"/>
                </a:solidFill>
                <a:latin typeface="Arial"/>
              </a:rPr>
              <a:t> — ship the thinnest vertical that retires the riskiest assumption first (here: *trust*).</a:t>
            </a:r>
          </a:p>
          <a:p>
            <a:pPr>
              <a:spcAft>
                <a:spcPts val="1100"/>
              </a:spcAft>
            </a:pPr>
            <a:r>
              <a:rPr sz="15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500" b="1" i="0">
                <a:solidFill>
                  <a:srgbClr val="1A1D24"/>
                </a:solidFill>
                <a:latin typeface="Arial"/>
              </a:rPr>
              <a:t>Determinism where trust lives</a:t>
            </a:r>
            <a:r>
              <a:rPr sz="1500" b="0" i="0">
                <a:solidFill>
                  <a:srgbClr val="1A1D24"/>
                </a:solidFill>
                <a:latin typeface="Arial"/>
              </a:rPr>
              <a:t> — the LLM drafts language; code makes the trust decisions.</a:t>
            </a:r>
          </a:p>
          <a:p>
            <a:pPr>
              <a:spcAft>
                <a:spcPts val="1100"/>
              </a:spcAft>
            </a:pPr>
            <a:r>
              <a:rPr sz="15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500" b="1" i="0">
                <a:solidFill>
                  <a:srgbClr val="1A1D24"/>
                </a:solidFill>
                <a:latin typeface="Arial"/>
              </a:rPr>
              <a:t>Make trust legible</a:t>
            </a:r>
            <a:r>
              <a:rPr sz="1500" b="0" i="0">
                <a:solidFill>
                  <a:srgbClr val="1A1D24"/>
                </a:solidFill>
                <a:latin typeface="Arial"/>
              </a:rPr>
              <a:t> — every score is explained; every claim shows its source.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6B7280"/>
                </a:solidFill>
                <a:latin typeface="Arial"/>
              </a:rPr>
              <a:t>paloalto  ·  Knowledge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Arial"/>
              </a:rP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A5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E0410F"/>
                </a:solidFill>
                <a:latin typeface="Arial"/>
              </a:rPr>
              <a:t>SECTION 2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2788920"/>
            <a:ext cx="164592" cy="868680"/>
          </a:xfrm>
          <a:prstGeom prst="roundRect">
            <a:avLst/>
          </a:prstGeom>
          <a:solidFill>
            <a:srgbClr val="FA5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65176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A1D24"/>
                </a:solidFill>
                <a:latin typeface="Arial"/>
              </a:rPr>
              <a:t>Context &amp;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886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6B7280"/>
                </a:solidFill>
                <a:latin typeface="Arial"/>
              </a:rPr>
              <a:t>5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88720" y="4663440"/>
            <a:ext cx="960120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17320" y="4828032"/>
            <a:ext cx="9144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1A1D24"/>
                </a:solidFill>
                <a:latin typeface="Arial"/>
              </a:rPr>
              <a:t>Focus areas:</a:t>
            </a:r>
            <a:r>
              <a:rPr sz="1400" b="0" i="0">
                <a:solidFill>
                  <a:srgbClr val="1A1D24"/>
                </a:solidFill>
                <a:latin typeface="Arial"/>
              </a:rPr>
              <a:t> The task (RAG) · the core user pain point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E0410F"/>
                </a:solidFill>
                <a:latin typeface="Arial"/>
              </a:rPr>
              <a:t>CONTEXT &amp; PROBLEM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914400"/>
            <a:ext cx="146304" cy="457200"/>
          </a:xfrm>
          <a:prstGeom prst="roundRect">
            <a:avLst/>
          </a:prstGeom>
          <a:solidFill>
            <a:srgbClr val="FA5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8229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A1D24"/>
                </a:solidFill>
                <a:latin typeface="Arial"/>
              </a:rPr>
              <a:t>The task, and the user pain it solves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011680"/>
            <a:ext cx="5120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5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500" b="1" i="0">
                <a:solidFill>
                  <a:srgbClr val="1A1D24"/>
                </a:solidFill>
                <a:latin typeface="Arial"/>
              </a:rPr>
              <a:t>The user:</a:t>
            </a:r>
            <a:r>
              <a:rPr sz="1500" b="0" i="0">
                <a:solidFill>
                  <a:srgbClr val="1A1D24"/>
                </a:solidFill>
                <a:latin typeface="Arial"/>
              </a:rPr>
              <a:t> Technical Sales / Sales Engineers, answering product questions </a:t>
            </a:r>
            <a:r>
              <a:rPr sz="1500" b="1" i="0">
                <a:solidFill>
                  <a:srgbClr val="1A1D24"/>
                </a:solidFill>
                <a:latin typeface="Arial"/>
              </a:rPr>
              <a:t>live in a customer call.</a:t>
            </a:r>
          </a:p>
          <a:p>
            <a:pPr>
              <a:spcAft>
                <a:spcPts val="1100"/>
              </a:spcAft>
            </a:pPr>
            <a:r>
              <a:rPr sz="15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500" b="1" i="0">
                <a:solidFill>
                  <a:srgbClr val="1A1D24"/>
                </a:solidFill>
                <a:latin typeface="Arial"/>
              </a:rPr>
              <a:t>The pain:</a:t>
            </a:r>
            <a:r>
              <a:rPr sz="1500" b="0" i="0">
                <a:solidFill>
                  <a:srgbClr val="1A1D24"/>
                </a:solidFill>
                <a:latin typeface="Arial"/>
              </a:rPr>
              <a:t> a confident-but-wrong answer loses credibility and the deal.</a:t>
            </a:r>
          </a:p>
          <a:p>
            <a:pPr>
              <a:spcAft>
                <a:spcPts val="1100"/>
              </a:spcAft>
            </a:pPr>
            <a:r>
              <a:rPr sz="15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500" b="0" i="0">
                <a:solidFill>
                  <a:srgbClr val="1A1D24"/>
                </a:solidFill>
                <a:latin typeface="Arial"/>
              </a:rPr>
              <a:t>Product truth is scattered across docs, release notes, and wikis — and it </a:t>
            </a:r>
            <a:r>
              <a:rPr sz="1500" b="1" i="0">
                <a:solidFill>
                  <a:srgbClr val="1A1D24"/>
                </a:solidFill>
                <a:latin typeface="Arial"/>
              </a:rPr>
              <a:t>goes stale</a:t>
            </a:r>
            <a:r>
              <a:rPr sz="1500" b="0" i="0">
                <a:solidFill>
                  <a:srgbClr val="1A1D24"/>
                </a:solidFill>
                <a:latin typeface="Arial"/>
              </a:rPr>
              <a:t>.</a:t>
            </a:r>
          </a:p>
          <a:p>
            <a:pPr>
              <a:spcAft>
                <a:spcPts val="1100"/>
              </a:spcAft>
            </a:pPr>
            <a:r>
              <a:rPr sz="15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500" b="0" i="0">
                <a:solidFill>
                  <a:srgbClr val="1A1D24"/>
                </a:solidFill>
                <a:latin typeface="Arial"/>
              </a:rPr>
              <a:t>Experts re-answer the same questions in Slack; that knowledge is never reused.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2011680"/>
            <a:ext cx="5029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5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500" b="1" i="0">
                <a:solidFill>
                  <a:srgbClr val="1A1D24"/>
                </a:solidFill>
                <a:latin typeface="Arial"/>
              </a:rPr>
              <a:t>The task = Retrieval-Augmented Generation (RAG)</a:t>
            </a:r>
            <a:r>
              <a:rPr sz="1500" b="0" i="0">
                <a:solidFill>
                  <a:srgbClr val="1A1D24"/>
                </a:solidFill>
                <a:latin typeface="Arial"/>
              </a:rPr>
              <a:t>, with a human-in-the-loop.</a:t>
            </a:r>
          </a:p>
          <a:p>
            <a:pPr>
              <a:spcAft>
                <a:spcPts val="1100"/>
              </a:spcAft>
            </a:pPr>
            <a:r>
              <a:rPr sz="15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500" b="0" i="0">
                <a:solidFill>
                  <a:srgbClr val="1A1D24"/>
                </a:solidFill>
                <a:latin typeface="Arial"/>
              </a:rPr>
              <a:t>RAG = retrieve approved documents first, then have the AI answer </a:t>
            </a:r>
            <a:r>
              <a:rPr sz="1500" b="1" i="0">
                <a:solidFill>
                  <a:srgbClr val="1A1D24"/>
                </a:solidFill>
                <a:latin typeface="Arial"/>
              </a:rPr>
              <a:t>only</a:t>
            </a:r>
            <a:r>
              <a:rPr sz="1500" b="0" i="0">
                <a:solidFill>
                  <a:srgbClr val="1A1D24"/>
                </a:solidFill>
                <a:latin typeface="Arial"/>
              </a:rPr>
              <a:t> from them, with citations.</a:t>
            </a:r>
          </a:p>
          <a:p>
            <a:pPr>
              <a:spcAft>
                <a:spcPts val="1100"/>
              </a:spcAft>
            </a:pPr>
            <a:r>
              <a:rPr sz="15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500" b="0" i="0">
                <a:solidFill>
                  <a:srgbClr val="1A1D24"/>
                </a:solidFill>
                <a:latin typeface="Arial"/>
              </a:rPr>
              <a:t>Not a chatbot: a generic chatbot hallucinates with no proof — a liability for a security vendor.</a:t>
            </a:r>
          </a:p>
          <a:p>
            <a:pPr>
              <a:spcAft>
                <a:spcPts val="1100"/>
              </a:spcAft>
            </a:pPr>
            <a:r>
              <a:rPr sz="15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500" b="0" i="0">
                <a:solidFill>
                  <a:srgbClr val="1A1D24"/>
                </a:solidFill>
                <a:latin typeface="Arial"/>
              </a:rPr>
              <a:t>_Analogy: give a rep the official binder and say 'only quote from this, cite the page.'_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6B7280"/>
                </a:solidFill>
                <a:latin typeface="Arial"/>
              </a:rPr>
              <a:t>paloalto  ·  Knowledge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Arial"/>
              </a:rPr>
              <a:t>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A5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E0410F"/>
                </a:solidFill>
                <a:latin typeface="Arial"/>
              </a:rPr>
              <a:t>SECTION 3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2788920"/>
            <a:ext cx="164592" cy="868680"/>
          </a:xfrm>
          <a:prstGeom prst="roundRect">
            <a:avLst/>
          </a:prstGeom>
          <a:solidFill>
            <a:srgbClr val="FA5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65176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A1D24"/>
                </a:solidFill>
                <a:latin typeface="Arial"/>
              </a:rPr>
              <a:t>Technical Deep Dive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886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6B7280"/>
                </a:solidFill>
                <a:latin typeface="Arial"/>
              </a:rPr>
              <a:t>15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88720" y="4663440"/>
            <a:ext cx="960120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17320" y="4828032"/>
            <a:ext cx="9144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1A1D24"/>
                </a:solidFill>
                <a:latin typeface="Arial"/>
              </a:rPr>
              <a:t>Focus areas:</a:t>
            </a:r>
            <a:r>
              <a:rPr sz="1400" b="0" i="0">
                <a:solidFill>
                  <a:srgbClr val="1A1D24"/>
                </a:solidFill>
                <a:latin typeface="Arial"/>
              </a:rPr>
              <a:t> Data Strategy · System Design &amp; Trade-offs · The Human in the Loop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E0410F"/>
                </a:solidFill>
                <a:latin typeface="Arial"/>
              </a:rPr>
              <a:t>TECHNICAL DEEP DIVE ·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914400"/>
            <a:ext cx="146304" cy="457200"/>
          </a:xfrm>
          <a:prstGeom prst="roundRect">
            <a:avLst/>
          </a:prstGeom>
          <a:solidFill>
            <a:srgbClr val="FA5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8229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A1D24"/>
                </a:solidFill>
                <a:latin typeface="Arial"/>
              </a:rPr>
              <a:t>End-to-end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240280"/>
            <a:ext cx="120700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 i="0">
                <a:solidFill>
                  <a:srgbClr val="6B7280"/>
                </a:solidFill>
                <a:latin typeface="Arial"/>
              </a:rPr>
              <a:t>1</a:t>
            </a:r>
          </a:p>
          <a:p>
            <a:pPr algn="ctr"/>
            <a:r>
              <a:rPr sz="1250" b="1" i="0">
                <a:solidFill>
                  <a:srgbClr val="1A1D24"/>
                </a:solidFill>
                <a:latin typeface="Arial"/>
              </a:rPr>
              <a:t>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75688" y="2532888"/>
            <a:ext cx="3291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A582D"/>
                </a:solidFill>
                <a:latin typeface="Arial"/>
              </a:rPr>
              <a:t>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04872" y="2240280"/>
            <a:ext cx="1207008" cy="1051560"/>
          </a:xfrm>
          <a:prstGeom prst="roundRect">
            <a:avLst/>
          </a:prstGeom>
          <a:solidFill>
            <a:srgbClr val="FA5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</a:t>
            </a:r>
          </a:p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Classify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1880" y="2532888"/>
            <a:ext cx="3291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A582D"/>
                </a:solidFill>
                <a:latin typeface="Arial"/>
              </a:rPr>
              <a:t>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41064" y="2240280"/>
            <a:ext cx="1207008" cy="1051560"/>
          </a:xfrm>
          <a:prstGeom prst="roundRect">
            <a:avLst/>
          </a:prstGeom>
          <a:solidFill>
            <a:srgbClr val="333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</a:t>
            </a:r>
          </a:p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Find</a:t>
            </a:r>
          </a:p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sources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48072" y="2532888"/>
            <a:ext cx="3291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A582D"/>
                </a:solidFill>
                <a:latin typeface="Arial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77256" y="2240280"/>
            <a:ext cx="1207008" cy="1051560"/>
          </a:xfrm>
          <a:prstGeom prst="roundRect">
            <a:avLst/>
          </a:prstGeom>
          <a:solidFill>
            <a:srgbClr val="FA5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</a:t>
            </a:r>
          </a:p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Draft</a:t>
            </a:r>
          </a:p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+ cite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84264" y="2532888"/>
            <a:ext cx="3291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A582D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13448" y="2240280"/>
            <a:ext cx="1207008" cy="1051560"/>
          </a:xfrm>
          <a:prstGeom prst="roundRect">
            <a:avLst/>
          </a:prstGeom>
          <a:solidFill>
            <a:srgbClr val="333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</a:t>
            </a:r>
          </a:p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Check</a:t>
            </a:r>
          </a:p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&amp; Score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0456" y="2532888"/>
            <a:ext cx="3291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A582D"/>
                </a:solidFill>
                <a:latin typeface="Arial"/>
              </a:rPr>
              <a:t>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2240280"/>
            <a:ext cx="1207008" cy="1051560"/>
          </a:xfrm>
          <a:prstGeom prst="roundRect">
            <a:avLst/>
          </a:prstGeom>
          <a:solidFill>
            <a:srgbClr val="FA5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</a:t>
            </a:r>
          </a:p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Polish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56648" y="2532888"/>
            <a:ext cx="3291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A582D"/>
                </a:solidFill>
                <a:latin typeface="Arial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85832" y="2240280"/>
            <a:ext cx="120700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 i="0">
                <a:solidFill>
                  <a:srgbClr val="6B7280"/>
                </a:solidFill>
                <a:latin typeface="Arial"/>
              </a:rPr>
              <a:t>7</a:t>
            </a:r>
          </a:p>
          <a:p>
            <a:pPr algn="ctr"/>
            <a:r>
              <a:rPr sz="1250" b="1" i="0">
                <a:solidFill>
                  <a:srgbClr val="1A1D24"/>
                </a:solidFill>
                <a:latin typeface="Arial"/>
              </a:rPr>
              <a:t>Answer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80960" y="1627632"/>
            <a:ext cx="201168" cy="201168"/>
          </a:xfrm>
          <a:prstGeom prst="roundRect">
            <a:avLst/>
          </a:prstGeom>
          <a:solidFill>
            <a:srgbClr val="FA5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36992" y="155448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6B7280"/>
                </a:solidFill>
                <a:latin typeface="Arial"/>
              </a:rPr>
              <a:t>AI step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5440" y="1627632"/>
            <a:ext cx="201168" cy="201168"/>
          </a:xfrm>
          <a:prstGeom prst="roundRect">
            <a:avLst/>
          </a:prstGeom>
          <a:solidFill>
            <a:srgbClr val="333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91472" y="15544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6B7280"/>
                </a:solidFill>
                <a:latin typeface="Arial"/>
              </a:rPr>
              <a:t>Deterministic code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59752" y="3273552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D6312B"/>
                </a:solidFill>
                <a:latin typeface="Arial"/>
              </a:rPr>
              <a:t>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463040" y="3657600"/>
            <a:ext cx="9235440" cy="713232"/>
          </a:xfrm>
          <a:prstGeom prst="roundRect">
            <a:avLst/>
          </a:prstGeom>
          <a:solidFill>
            <a:srgbClr val="FBE9E8"/>
          </a:solidFill>
          <a:ln w="12700">
            <a:solidFill>
              <a:srgbClr val="D631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91640" y="3721608"/>
            <a:ext cx="877824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 i="0">
                <a:solidFill>
                  <a:srgbClr val="1A1D24"/>
                </a:solidFill>
                <a:latin typeface="Arial"/>
              </a:rPr>
              <a:t>Can't prove it?  →  route to the right </a:t>
            </a:r>
            <a:r>
              <a:rPr sz="1300" b="1" i="0">
                <a:solidFill>
                  <a:srgbClr val="1A1D24"/>
                </a:solidFill>
                <a:latin typeface="Arial"/>
              </a:rPr>
              <a:t>SME</a:t>
            </a:r>
            <a:r>
              <a:rPr sz="1300" b="0" i="0">
                <a:solidFill>
                  <a:srgbClr val="1A1D24"/>
                </a:solidFill>
                <a:latin typeface="Arial"/>
              </a:rPr>
              <a:t>  →  SME answers  →  </a:t>
            </a:r>
            <a:r>
              <a:rPr sz="1300" b="1" i="0">
                <a:solidFill>
                  <a:srgbClr val="1A1D24"/>
                </a:solidFill>
                <a:latin typeface="Arial"/>
              </a:rPr>
              <a:t>published as an approved source</a:t>
            </a:r>
            <a:r>
              <a:rPr sz="1300" b="0" i="0">
                <a:solidFill>
                  <a:srgbClr val="1A1D24"/>
                </a:solidFill>
                <a:latin typeface="Arial"/>
              </a:rPr>
              <a:t> (reusable next time)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68680" y="5440680"/>
            <a:ext cx="10424160" cy="868680"/>
          </a:xfrm>
          <a:prstGeom prst="roundRect">
            <a:avLst/>
          </a:prstGeom>
          <a:solidFill>
            <a:srgbClr val="FBF0DC"/>
          </a:solidFill>
          <a:ln w="12700">
            <a:solidFill>
              <a:srgbClr val="C77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5532120"/>
            <a:ext cx="9966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50" b="1" i="0">
                <a:solidFill>
                  <a:srgbClr val="1A1D24"/>
                </a:solidFill>
                <a:latin typeface="Arial"/>
              </a:rPr>
              <a:t>The key idea:</a:t>
            </a:r>
            <a:r>
              <a:rPr sz="1350" b="0" i="0">
                <a:solidFill>
                  <a:srgbClr val="1A1D24"/>
                </a:solidFill>
                <a:latin typeface="Arial"/>
              </a:rPr>
              <a:t> the </a:t>
            </a:r>
            <a:r>
              <a:rPr sz="1350" b="1" i="0">
                <a:solidFill>
                  <a:srgbClr val="1A1D24"/>
                </a:solidFill>
                <a:latin typeface="Arial"/>
              </a:rPr>
              <a:t>AI</a:t>
            </a:r>
            <a:r>
              <a:rPr sz="1350" b="0" i="0">
                <a:solidFill>
                  <a:srgbClr val="1A1D24"/>
                </a:solidFill>
                <a:latin typeface="Arial"/>
              </a:rPr>
              <a:t> (orange) only handles language — classify, draft, polish. Every </a:t>
            </a:r>
            <a:r>
              <a:rPr sz="1350" b="1" i="0">
                <a:solidFill>
                  <a:srgbClr val="1A1D24"/>
                </a:solidFill>
                <a:latin typeface="Arial"/>
              </a:rPr>
              <a:t>trust</a:t>
            </a:r>
            <a:r>
              <a:rPr sz="1350" b="0" i="0">
                <a:solidFill>
                  <a:srgbClr val="1A1D24"/>
                </a:solidFill>
                <a:latin typeface="Arial"/>
              </a:rPr>
              <a:t> decision — check citations &amp; calculate confidence (slate) — is auditable code. That's why it's a governed system, not a chatbot.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6B7280"/>
                </a:solidFill>
                <a:latin typeface="Arial"/>
              </a:rPr>
              <a:t>paloalto  ·  Knowledge Agent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6400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Arial"/>
              </a:rPr>
              <a:t>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E0410F"/>
                </a:solidFill>
                <a:latin typeface="Arial"/>
              </a:rPr>
              <a:t>TECHNICAL DEEP DIVE · DATA STRATEGY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914400"/>
            <a:ext cx="146304" cy="457200"/>
          </a:xfrm>
          <a:prstGeom prst="roundRect">
            <a:avLst/>
          </a:prstGeom>
          <a:solidFill>
            <a:srgbClr val="FA5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8229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A1D24"/>
                </a:solidFill>
                <a:latin typeface="Arial"/>
              </a:rPr>
              <a:t>Data: acquisition, synthesis &amp; 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920240"/>
            <a:ext cx="5120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4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400" b="1" i="0">
                <a:solidFill>
                  <a:srgbClr val="1A1D24"/>
                </a:solidFill>
                <a:latin typeface="Arial"/>
              </a:rPr>
              <a:t>Acquisition — three sources, on purpose:</a:t>
            </a:r>
          </a:p>
          <a:p>
            <a:pPr>
              <a:spcAft>
                <a:spcPts val="1100"/>
              </a:spcAft>
            </a:pPr>
            <a:r>
              <a:rPr sz="14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400" b="1" i="0">
                <a:solidFill>
                  <a:srgbClr val="1A1D24"/>
                </a:solidFill>
                <a:latin typeface="Arial"/>
              </a:rPr>
              <a:t>Real docs</a:t>
            </a:r>
            <a:r>
              <a:rPr sz="1400" b="0" i="0">
                <a:solidFill>
                  <a:srgbClr val="1A1D24"/>
                </a:solidFill>
                <a:latin typeface="Arial"/>
              </a:rPr>
              <a:t> — crawled docs.paloaltonetworks.com (Prisma Access, Cortex XDR, NGFW). ~17 pages, 68 passages.</a:t>
            </a:r>
          </a:p>
          <a:p>
            <a:pPr>
              <a:spcAft>
                <a:spcPts val="1100"/>
              </a:spcAft>
            </a:pPr>
            <a:r>
              <a:rPr sz="14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400" b="1" i="0">
                <a:solidFill>
                  <a:srgbClr val="1A1D24"/>
                </a:solidFill>
                <a:latin typeface="Arial"/>
              </a:rPr>
              <a:t>PDFs</a:t>
            </a:r>
            <a:r>
              <a:rPr sz="1400" b="0" i="0">
                <a:solidFill>
                  <a:srgbClr val="1A1D24"/>
                </a:solidFill>
                <a:latin typeface="Arial"/>
              </a:rPr>
              <a:t> — ingested via pypdf + metadata sidecar.</a:t>
            </a:r>
          </a:p>
          <a:p>
            <a:pPr>
              <a:spcAft>
                <a:spcPts val="1100"/>
              </a:spcAft>
            </a:pPr>
            <a:r>
              <a:rPr sz="14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400" b="1" i="0">
                <a:solidFill>
                  <a:srgbClr val="1A1D24"/>
                </a:solidFill>
                <a:latin typeface="Arial"/>
              </a:rPr>
              <a:t>Synthetic</a:t>
            </a:r>
            <a:r>
              <a:rPr sz="1400" b="0" i="0">
                <a:solidFill>
                  <a:srgbClr val="1A1D24"/>
                </a:solidFill>
                <a:latin typeface="Arial"/>
              </a:rPr>
              <a:t> — hand-generated stale + deprecated edge cases (can't test a freshness rule without a stale doc).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920240"/>
            <a:ext cx="5029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4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400" b="1" i="0">
                <a:solidFill>
                  <a:srgbClr val="1A1D24"/>
                </a:solidFill>
                <a:latin typeface="Arial"/>
              </a:rPr>
              <a:t>Quality &amp; alignment:</a:t>
            </a:r>
          </a:p>
          <a:p>
            <a:pPr>
              <a:spcAft>
                <a:spcPts val="1100"/>
              </a:spcAft>
            </a:pPr>
            <a:r>
              <a:rPr sz="14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400" b="0" i="0">
                <a:solidFill>
                  <a:srgbClr val="1A1D24"/>
                </a:solidFill>
                <a:latin typeface="Arial"/>
              </a:rPr>
              <a:t>Every passage carries product, version, source type, owner, </a:t>
            </a:r>
            <a:r>
              <a:rPr sz="1400" b="1" i="0">
                <a:solidFill>
                  <a:srgbClr val="1A1D24"/>
                </a:solidFill>
                <a:latin typeface="Arial"/>
              </a:rPr>
              <a:t>review date</a:t>
            </a:r>
            <a:r>
              <a:rPr sz="1400" b="0" i="0">
                <a:solidFill>
                  <a:srgbClr val="1A1D24"/>
                </a:solidFill>
                <a:latin typeface="Arial"/>
              </a:rPr>
              <a:t>, </a:t>
            </a:r>
            <a:r>
              <a:rPr sz="1400" b="1" i="0">
                <a:solidFill>
                  <a:srgbClr val="1A1D24"/>
                </a:solidFill>
                <a:latin typeface="Arial"/>
              </a:rPr>
              <a:t>deprecated flag</a:t>
            </a:r>
            <a:r>
              <a:rPr sz="1400" b="0" i="0">
                <a:solidFill>
                  <a:srgbClr val="1A1D24"/>
                </a:solidFill>
                <a:latin typeface="Arial"/>
              </a:rPr>
              <a:t>, approval status, votes.</a:t>
            </a:r>
          </a:p>
          <a:p>
            <a:pPr>
              <a:spcAft>
                <a:spcPts val="1100"/>
              </a:spcAft>
            </a:pPr>
            <a:r>
              <a:rPr sz="14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400" b="0" i="0">
                <a:solidFill>
                  <a:srgbClr val="1A1D24"/>
                </a:solidFill>
                <a:latin typeface="Arial"/>
              </a:rPr>
              <a:t>Metadata </a:t>
            </a:r>
            <a:r>
              <a:rPr sz="1400" b="1" i="0">
                <a:solidFill>
                  <a:srgbClr val="1A1D24"/>
                </a:solidFill>
                <a:latin typeface="Arial"/>
              </a:rPr>
              <a:t>drives</a:t>
            </a:r>
            <a:r>
              <a:rPr sz="1400" b="0" i="0">
                <a:solidFill>
                  <a:srgbClr val="1A1D24"/>
                </a:solidFill>
                <a:latin typeface="Arial"/>
              </a:rPr>
              <a:t> retrieval, scoring, and routing — deprecated never surfaces.</a:t>
            </a:r>
          </a:p>
          <a:p>
            <a:pPr>
              <a:spcAft>
                <a:spcPts val="1100"/>
              </a:spcAft>
            </a:pPr>
            <a:r>
              <a:rPr sz="14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400" b="1" i="0">
                <a:solidFill>
                  <a:srgbClr val="1A1D24"/>
                </a:solidFill>
                <a:latin typeface="Arial"/>
              </a:rPr>
              <a:t>Honest gap:</a:t>
            </a:r>
            <a:r>
              <a:rPr sz="1400" b="0" i="0">
                <a:solidFill>
                  <a:srgbClr val="1A1D24"/>
                </a:solidFill>
                <a:latin typeface="Arial"/>
              </a:rPr>
              <a:t> the Cortex portal is JS-rendered → couldn't crawl it → I named the gap, not faked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6B7280"/>
                </a:solidFill>
                <a:latin typeface="Arial"/>
              </a:rPr>
              <a:t>paloalto  ·  Knowledge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Arial"/>
              </a:rPr>
              <a:t>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E0410F"/>
                </a:solidFill>
                <a:latin typeface="Arial"/>
              </a:rPr>
              <a:t>TECHNICAL DEEP DIVE · SYSTEM DESIGN &amp; TRADE-OFFS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914400"/>
            <a:ext cx="146304" cy="457200"/>
          </a:xfrm>
          <a:prstGeom prst="roundRect">
            <a:avLst/>
          </a:prstGeom>
          <a:solidFill>
            <a:srgbClr val="FA5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8229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A1D24"/>
                </a:solidFill>
                <a:latin typeface="Arial"/>
              </a:rPr>
              <a:t>Why these choices (build vs buy, latency vs accuracy)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1828800"/>
          <a:ext cx="10424160" cy="2761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286000"/>
                <a:gridCol w="2377440"/>
                <a:gridCol w="4023360"/>
              </a:tblGrid>
              <a:tr h="394498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Arial"/>
                        </a:rPr>
                        <a:t>Decision</a:t>
                      </a:r>
                    </a:p>
                  </a:txBody>
                  <a:tcPr>
                    <a:solidFill>
                      <a:srgbClr val="1A1D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Arial"/>
                        </a:rPr>
                        <a:t>Chose</a:t>
                      </a:r>
                    </a:p>
                  </a:txBody>
                  <a:tcPr>
                    <a:solidFill>
                      <a:srgbClr val="1A1D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Arial"/>
                        </a:rPr>
                        <a:t>Over</a:t>
                      </a:r>
                    </a:p>
                  </a:txBody>
                  <a:tcPr>
                    <a:solidFill>
                      <a:srgbClr val="1A1D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Arial"/>
                        </a:rPr>
                        <a:t>Why</a:t>
                      </a:r>
                    </a:p>
                  </a:txBody>
                  <a:tcPr>
                    <a:solidFill>
                      <a:srgbClr val="1A1D24"/>
                    </a:solidFill>
                  </a:tcPr>
                </a:tc>
              </a:tr>
              <a:tr h="394498"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E0410F"/>
                          </a:solidFill>
                          <a:latin typeface="Arial"/>
                        </a:rPr>
                        <a:t>Confidence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1A1D24"/>
                          </a:solidFill>
                          <a:latin typeface="Arial"/>
                        </a:rPr>
                        <a:t>Deterministic rubric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1A1D24"/>
                          </a:solidFill>
                          <a:latin typeface="Arial"/>
                        </a:rPr>
                        <a:t>LLM-judged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1A1D24"/>
                          </a:solidFill>
                          <a:latin typeface="Arial"/>
                        </a:rPr>
                        <a:t>Auditable; can't be gamed by fluency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4498"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E0410F"/>
                          </a:solidFill>
                          <a:latin typeface="Arial"/>
                        </a:rPr>
                        <a:t>Grounding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1A1D24"/>
                          </a:solidFill>
                          <a:latin typeface="Arial"/>
                        </a:rPr>
                        <a:t>Hard code gates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1A1D24"/>
                          </a:solidFill>
                          <a:latin typeface="Arial"/>
                        </a:rPr>
                        <a:t>Prompt 'please cite'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1A1D24"/>
                          </a:solidFill>
                          <a:latin typeface="Arial"/>
                        </a:rPr>
                        <a:t>A gate guarantees; a prompt hopes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394498"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E0410F"/>
                          </a:solidFill>
                          <a:latin typeface="Arial"/>
                        </a:rPr>
                        <a:t>Vector store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1A1D24"/>
                          </a:solidFill>
                          <a:latin typeface="Arial"/>
                        </a:rPr>
                        <a:t>LanceDB (embedded)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1A1D24"/>
                          </a:solidFill>
                          <a:latin typeface="Arial"/>
                        </a:rPr>
                        <a:t>Pinecone / pgvector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1A1D24"/>
                          </a:solidFill>
                          <a:latin typeface="Arial"/>
                        </a:rPr>
                        <a:t>Build vs buy: zero infra for the MVP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4498"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E0410F"/>
                          </a:solidFill>
                          <a:latin typeface="Arial"/>
                        </a:rPr>
                        <a:t>Facts model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1A1D24"/>
                          </a:solidFill>
                          <a:latin typeface="Arial"/>
                        </a:rPr>
                        <a:t>Opus 4.8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1A1D24"/>
                          </a:solidFill>
                          <a:latin typeface="Arial"/>
                        </a:rPr>
                        <a:t>Haiku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1A1D24"/>
                          </a:solidFill>
                          <a:latin typeface="Arial"/>
                        </a:rPr>
                        <a:t>Accuracy where hallucination hurts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394498"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E0410F"/>
                          </a:solidFill>
                          <a:latin typeface="Arial"/>
                        </a:rPr>
                        <a:t>Classifier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1A1D24"/>
                          </a:solidFill>
                          <a:latin typeface="Arial"/>
                        </a:rPr>
                        <a:t>Haiku 4.5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1A1D24"/>
                          </a:solidFill>
                          <a:latin typeface="Arial"/>
                        </a:rPr>
                        <a:t>Opus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1A1D24"/>
                          </a:solidFill>
                          <a:latin typeface="Arial"/>
                        </a:rPr>
                        <a:t>Latency / cost on a routing call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4500"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E0410F"/>
                          </a:solidFill>
                          <a:latin typeface="Arial"/>
                        </a:rPr>
                        <a:t>Embeddings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1A1D24"/>
                          </a:solidFill>
                          <a:latin typeface="Arial"/>
                        </a:rPr>
                        <a:t>Local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1A1D24"/>
                          </a:solidFill>
                          <a:latin typeface="Arial"/>
                        </a:rPr>
                        <a:t>Voyage / OpenAI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1A1D24"/>
                          </a:solidFill>
                          <a:latin typeface="Arial"/>
                        </a:rPr>
                        <a:t>Free/offline MVP; one-line swap at scale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6B7280"/>
                </a:solidFill>
                <a:latin typeface="Arial"/>
              </a:rPr>
              <a:t>paloalto  ·  Knowledge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Arial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E0410F"/>
                </a:solidFill>
                <a:latin typeface="Arial"/>
              </a:rPr>
              <a:t>TECHNICAL DEEP DIVE · THE HUMAN IN THE LOOP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914400"/>
            <a:ext cx="146304" cy="457200"/>
          </a:xfrm>
          <a:prstGeom prst="roundRect">
            <a:avLst/>
          </a:prstGeom>
          <a:solidFill>
            <a:srgbClr val="FA5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8229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A1D24"/>
                </a:solidFill>
                <a:latin typeface="Arial"/>
              </a:rPr>
              <a:t>The interface between AI logic &amp; the user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920240"/>
            <a:ext cx="5120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4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400" b="1" i="0">
                <a:solidFill>
                  <a:srgbClr val="1A1D24"/>
                </a:solidFill>
                <a:latin typeface="Arial"/>
              </a:rPr>
              <a:t>For the Sales Engineer:</a:t>
            </a:r>
          </a:p>
          <a:p>
            <a:pPr>
              <a:spcAft>
                <a:spcPts val="1100"/>
              </a:spcAft>
            </a:pPr>
            <a:r>
              <a:rPr sz="14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400" b="1" i="0">
                <a:solidFill>
                  <a:srgbClr val="1A1D24"/>
                </a:solidFill>
                <a:latin typeface="Arial"/>
              </a:rPr>
              <a:t>Attribution UI</a:t>
            </a:r>
            <a:r>
              <a:rPr sz="1400" b="0" i="0">
                <a:solidFill>
                  <a:srgbClr val="1A1D24"/>
                </a:solidFill>
                <a:latin typeface="Arial"/>
              </a:rPr>
              <a:t> — the exact cited source text is shown inline; verify without leaving the screen.</a:t>
            </a:r>
          </a:p>
          <a:p>
            <a:pPr>
              <a:spcAft>
                <a:spcPts val="1100"/>
              </a:spcAft>
            </a:pPr>
            <a:r>
              <a:rPr sz="14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400" b="1" i="0">
                <a:solidFill>
                  <a:srgbClr val="1A1D24"/>
                </a:solidFill>
                <a:latin typeface="Arial"/>
              </a:rPr>
              <a:t>Explainable confidence</a:t>
            </a:r>
            <a:r>
              <a:rPr sz="1400" b="0" i="0">
                <a:solidFill>
                  <a:srgbClr val="1A1D24"/>
                </a:solidFill>
                <a:latin typeface="Arial"/>
              </a:rPr>
              <a:t> — a pill + score breakdown + the cap reason.</a:t>
            </a:r>
          </a:p>
          <a:p>
            <a:pPr>
              <a:spcAft>
                <a:spcPts val="1100"/>
              </a:spcAft>
            </a:pPr>
            <a:r>
              <a:rPr sz="14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400" b="1" i="0">
                <a:solidFill>
                  <a:srgbClr val="1A1D24"/>
                </a:solidFill>
                <a:latin typeface="Arial"/>
              </a:rPr>
              <a:t>Brand voice</a:t>
            </a:r>
            <a:r>
              <a:rPr sz="1400" b="0" i="0">
                <a:solidFill>
                  <a:srgbClr val="1A1D24"/>
                </a:solidFill>
                <a:latin typeface="Arial"/>
              </a:rPr>
              <a:t> — sounds consultative, but the Facts↔Style wall keeps facts unchanged.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920240"/>
            <a:ext cx="5029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4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400" b="1" i="0">
                <a:solidFill>
                  <a:srgbClr val="1A1D24"/>
                </a:solidFill>
                <a:latin typeface="Arial"/>
              </a:rPr>
              <a:t>For the expert (SME):</a:t>
            </a:r>
          </a:p>
          <a:p>
            <a:pPr>
              <a:spcAft>
                <a:spcPts val="1100"/>
              </a:spcAft>
            </a:pPr>
            <a:r>
              <a:rPr sz="14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400" b="1" i="0">
                <a:solidFill>
                  <a:srgbClr val="1A1D24"/>
                </a:solidFill>
                <a:latin typeface="Arial"/>
              </a:rPr>
              <a:t>Escalate → route → email</a:t>
            </a:r>
            <a:r>
              <a:rPr sz="1400" b="0" i="0">
                <a:solidFill>
                  <a:srgbClr val="1A1D24"/>
                </a:solidFill>
                <a:latin typeface="Arial"/>
              </a:rPr>
              <a:t> the right SME group automatically.</a:t>
            </a:r>
          </a:p>
          <a:p>
            <a:pPr>
              <a:spcAft>
                <a:spcPts val="1100"/>
              </a:spcAft>
            </a:pPr>
            <a:r>
              <a:rPr sz="14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400" b="1" i="0">
                <a:solidFill>
                  <a:srgbClr val="1A1D24"/>
                </a:solidFill>
                <a:latin typeface="Arial"/>
              </a:rPr>
              <a:t>Approve &amp; Publish</a:t>
            </a:r>
            <a:r>
              <a:rPr sz="1400" b="0" i="0">
                <a:solidFill>
                  <a:srgbClr val="1A1D24"/>
                </a:solidFill>
                <a:latin typeface="Arial"/>
              </a:rPr>
              <a:t> → the answer becomes citable for everyone (the knowledge flywheel).</a:t>
            </a:r>
          </a:p>
          <a:p>
            <a:pPr>
              <a:spcAft>
                <a:spcPts val="1100"/>
              </a:spcAft>
            </a:pPr>
            <a:r>
              <a:rPr sz="14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400" b="1" i="0">
                <a:solidFill>
                  <a:srgbClr val="1A1D24"/>
                </a:solidFill>
                <a:latin typeface="Arial"/>
              </a:rPr>
              <a:t>'This answer is wrong'</a:t>
            </a:r>
            <a:r>
              <a:rPr sz="1400" b="0" i="0">
                <a:solidFill>
                  <a:srgbClr val="1A1D24"/>
                </a:solidFill>
                <a:latin typeface="Arial"/>
              </a:rPr>
              <a:t> → lowers source reputation + opens a ticket (feedback → ranking, not retraining).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6B7280"/>
                </a:solidFill>
                <a:latin typeface="Arial"/>
              </a:rPr>
              <a:t>paloalto  ·  Knowledge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Arial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A5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E0410F"/>
                </a:solidFill>
                <a:latin typeface="Arial"/>
              </a:rPr>
              <a:t>SECTION 4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2788920"/>
            <a:ext cx="164592" cy="868680"/>
          </a:xfrm>
          <a:prstGeom prst="roundRect">
            <a:avLst/>
          </a:prstGeom>
          <a:solidFill>
            <a:srgbClr val="FA5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65176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A1D24"/>
                </a:solidFill>
                <a:latin typeface="Arial"/>
              </a:rPr>
              <a:t>Evaluation &amp;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886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6B7280"/>
                </a:solidFill>
                <a:latin typeface="Arial"/>
              </a:rPr>
              <a:t>10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88720" y="4663440"/>
            <a:ext cx="960120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17320" y="4828032"/>
            <a:ext cx="9144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1A1D24"/>
                </a:solidFill>
                <a:latin typeface="Arial"/>
              </a:rPr>
              <a:t>Focus areas:</a:t>
            </a:r>
            <a:r>
              <a:rPr sz="1400" b="0" i="0">
                <a:solidFill>
                  <a:srgbClr val="1A1D24"/>
                </a:solidFill>
                <a:latin typeface="Arial"/>
              </a:rPr>
              <a:t> Evaluation &amp; Success (metrics tied to KPIs) · hard truths · Retrospective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E0410F"/>
                </a:solidFill>
                <a:latin typeface="Arial"/>
              </a:rPr>
              <a:t>EVALUATION &amp; RESULTS · EVALUATION &amp; SUCCESS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914400"/>
            <a:ext cx="146304" cy="457200"/>
          </a:xfrm>
          <a:prstGeom prst="roundRect">
            <a:avLst/>
          </a:prstGeom>
          <a:solidFill>
            <a:srgbClr val="FA5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8229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A1D24"/>
                </a:solidFill>
                <a:latin typeface="Arial"/>
              </a:rPr>
              <a:t>Success beyond loss — trust SLOs tied to KPIs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83080"/>
            <a:ext cx="10424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400" b="0" i="0">
                <a:solidFill>
                  <a:srgbClr val="1A1D24"/>
                </a:solidFill>
                <a:latin typeface="Arial"/>
              </a:rPr>
              <a:t>No single label to optimize — it's a </a:t>
            </a:r>
            <a:r>
              <a:rPr sz="1400" b="1" i="0">
                <a:solidFill>
                  <a:srgbClr val="1A1D24"/>
                </a:solidFill>
                <a:latin typeface="Arial"/>
              </a:rPr>
              <a:t>trust</a:t>
            </a:r>
            <a:r>
              <a:rPr sz="1400" b="0" i="0">
                <a:solidFill>
                  <a:srgbClr val="1A1D24"/>
                </a:solidFill>
                <a:latin typeface="Arial"/>
              </a:rPr>
              <a:t> product, so success = trust/safety SLOs that map to the business: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68680" y="2331720"/>
          <a:ext cx="10424160" cy="19933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828800"/>
                <a:gridCol w="4389120"/>
              </a:tblGrid>
              <a:tr h="398678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Arial"/>
                        </a:rPr>
                        <a:t>KPI</a:t>
                      </a:r>
                    </a:p>
                  </a:txBody>
                  <a:tcPr>
                    <a:solidFill>
                      <a:srgbClr val="1A1D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>
                    <a:solidFill>
                      <a:srgbClr val="1A1D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Arial"/>
                        </a:rPr>
                        <a:t>Why it's the business metric</a:t>
                      </a:r>
                    </a:p>
                  </a:txBody>
                  <a:tcPr>
                    <a:solidFill>
                      <a:srgbClr val="1A1D24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E0410F"/>
                          </a:solidFill>
                          <a:latin typeface="Arial"/>
                        </a:rPr>
                        <a:t>Factual claims with a citation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1A1D24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1A1D24"/>
                          </a:solidFill>
                          <a:latin typeface="Arial"/>
                        </a:rPr>
                        <a:t>The product promise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E0410F"/>
                          </a:solidFill>
                          <a:latin typeface="Arial"/>
                        </a:rPr>
                        <a:t>Unsupported-claim / broken-citation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1A1D24"/>
                          </a:solidFill>
                          <a:latin typeface="Arial"/>
                        </a:rPr>
                        <a:t>&lt; 2% / &lt; 1%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1A1D24"/>
                          </a:solidFill>
                          <a:latin typeface="Arial"/>
                        </a:rPr>
                        <a:t>Hallucination ceiling; dead links kill trust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E0410F"/>
                          </a:solidFill>
                          <a:latin typeface="Arial"/>
                        </a:rPr>
                        <a:t>Deprecated-source usage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1A1D24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1A1D24"/>
                          </a:solidFill>
                          <a:latin typeface="Arial"/>
                        </a:rPr>
                        <a:t>Wrong-version answers lose deals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8679"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E0410F"/>
                          </a:solidFill>
                          <a:latin typeface="Arial"/>
                        </a:rPr>
                        <a:t>Low-confidence shown without escalation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1A1D24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1A1D24"/>
                          </a:solidFill>
                          <a:latin typeface="Arial"/>
                        </a:rPr>
                        <a:t>Know what you don't know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68680" y="525780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1A1D24"/>
                </a:solidFill>
                <a:latin typeface="Arial"/>
              </a:rPr>
              <a:t>Validated</a:t>
            </a:r>
            <a:r>
              <a:rPr sz="1400" b="0" i="0">
                <a:solidFill>
                  <a:srgbClr val="1A1D24"/>
                </a:solidFill>
                <a:latin typeface="Arial"/>
              </a:rPr>
              <a:t> with a </a:t>
            </a:r>
            <a:r>
              <a:rPr sz="1400" b="1" i="0">
                <a:solidFill>
                  <a:srgbClr val="1A1D24"/>
                </a:solidFill>
                <a:latin typeface="Arial"/>
              </a:rPr>
              <a:t>5 easy / 5 medium / 5 hard</a:t>
            </a:r>
            <a:r>
              <a:rPr sz="1400" b="0" i="0">
                <a:solidFill>
                  <a:srgbClr val="1A1D24"/>
                </a:solidFill>
                <a:latin typeface="Arial"/>
              </a:rPr>
              <a:t> harness → 5/5/5, plus </a:t>
            </a:r>
            <a:r>
              <a:rPr sz="1400" b="1" i="0">
                <a:solidFill>
                  <a:srgbClr val="1A1D24"/>
                </a:solidFill>
                <a:latin typeface="Arial"/>
              </a:rPr>
              <a:t>33 unit tests</a:t>
            </a:r>
            <a:r>
              <a:rPr sz="1400" b="0" i="0">
                <a:solidFill>
                  <a:srgbClr val="1A1D24"/>
                </a:solidFill>
                <a:latin typeface="Arial"/>
              </a:rPr>
              <a:t> that lock the scoring.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6B7280"/>
                </a:solidFill>
                <a:latin typeface="Arial"/>
              </a:rPr>
              <a:t>paloalto  ·  Knowledge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Arial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E0410F"/>
                </a:solidFill>
                <a:latin typeface="Arial"/>
              </a:rPr>
              <a:t>EVALUATION &amp; RESULTS · HARD TRUTHS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914400"/>
            <a:ext cx="146304" cy="457200"/>
          </a:xfrm>
          <a:prstGeom prst="roundRect">
            <a:avLst/>
          </a:prstGeom>
          <a:solidFill>
            <a:srgbClr val="FA5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8229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A1D24"/>
                </a:solidFill>
                <a:latin typeface="Arial"/>
              </a:rPr>
              <a:t>What broke — and what it taught 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920240"/>
            <a:ext cx="10424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500" b="1" i="0">
                <a:solidFill>
                  <a:srgbClr val="1A1D24"/>
                </a:solidFill>
                <a:latin typeface="Arial"/>
              </a:rPr>
              <a:t>Rerankers aren't calibrated.</a:t>
            </a:r>
            <a:r>
              <a:rPr sz="1500" b="0" i="0">
                <a:solidFill>
                  <a:srgbClr val="1A1D24"/>
                </a:solidFill>
                <a:latin typeface="Arial"/>
              </a:rPr>
              <a:t> The correct passage scored lower than an off-topic one; rerankers order, the LLM judges sufficiency.</a:t>
            </a:r>
          </a:p>
          <a:p>
            <a:pPr>
              <a:spcAft>
                <a:spcPts val="1200"/>
              </a:spcAft>
            </a:pPr>
            <a:r>
              <a:rPr sz="15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500" b="1" i="0">
                <a:solidFill>
                  <a:srgbClr val="1A1D24"/>
                </a:solidFill>
                <a:latin typeface="Arial"/>
              </a:rPr>
              <a:t>The newest model deprecated a setting.</a:t>
            </a:r>
            <a:r>
              <a:rPr sz="1500" b="0" i="0">
                <a:solidFill>
                  <a:srgbClr val="1A1D24"/>
                </a:solidFill>
                <a:latin typeface="Arial"/>
              </a:rPr>
              <a:t> I set `temperature=0` for determinism → it errored → my fail-safe escalated all 15. Determinism belongs in my code.</a:t>
            </a:r>
          </a:p>
          <a:p>
            <a:pPr>
              <a:spcAft>
                <a:spcPts val="1200"/>
              </a:spcAft>
            </a:pPr>
            <a:r>
              <a:rPr sz="15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500" b="1" i="0">
                <a:solidFill>
                  <a:srgbClr val="1A1D24"/>
                </a:solidFill>
                <a:latin typeface="Arial"/>
              </a:rPr>
              <a:t>A fail-safe became bad UX.</a:t>
            </a:r>
            <a:r>
              <a:rPr sz="1500" b="0" i="0">
                <a:solidFill>
                  <a:srgbClr val="1A1D24"/>
                </a:solidFill>
                <a:latin typeface="Arial"/>
              </a:rPr>
              <a:t> It over-escalated answerable questions; I tuned it to answer when grounded.</a:t>
            </a:r>
          </a:p>
          <a:p>
            <a:pPr>
              <a:spcAft>
                <a:spcPts val="1200"/>
              </a:spcAft>
            </a:pPr>
            <a:r>
              <a:rPr sz="15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500" b="1" i="0">
                <a:solidFill>
                  <a:srgbClr val="1A1D24"/>
                </a:solidFill>
                <a:latin typeface="Arial"/>
              </a:rPr>
              <a:t>One downvote shouldn't bury a source</a:t>
            </a:r>
            <a:r>
              <a:rPr sz="1500" b="0" i="0">
                <a:solidFill>
                  <a:srgbClr val="1A1D24"/>
                </a:solidFill>
                <a:latin typeface="Arial"/>
              </a:rPr>
              <a:t> — added a 5-vote floor before reputation can cap (a real sparse-data bug).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6B7280"/>
                </a:solidFill>
                <a:latin typeface="Arial"/>
              </a:rPr>
              <a:t>paloalto  ·  Knowledge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Arial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E0410F"/>
                </a:solidFill>
                <a:latin typeface="Arial"/>
              </a:rPr>
              <a:t>EVALUATION &amp; RESULTS · RETROSPECTIVE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914400"/>
            <a:ext cx="146304" cy="457200"/>
          </a:xfrm>
          <a:prstGeom prst="roundRect">
            <a:avLst/>
          </a:prstGeom>
          <a:solidFill>
            <a:srgbClr val="FA5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8229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A1D24"/>
                </a:solidFill>
                <a:latin typeface="Arial"/>
              </a:rPr>
              <a:t>If I rebuilt it on today's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011680"/>
            <a:ext cx="5120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45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450" b="1" i="0">
                <a:solidFill>
                  <a:srgbClr val="1A1D24"/>
                </a:solidFill>
                <a:latin typeface="Arial"/>
              </a:rPr>
              <a:t>Would change:</a:t>
            </a:r>
          </a:p>
          <a:p>
            <a:pPr>
              <a:spcAft>
                <a:spcPts val="1100"/>
              </a:spcAft>
            </a:pPr>
            <a:r>
              <a:rPr sz="145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450" b="0" i="0">
                <a:solidFill>
                  <a:srgbClr val="1A1D24"/>
                </a:solidFill>
                <a:latin typeface="Arial"/>
              </a:rPr>
              <a:t>Agentic retrieval (Corrective / Self-RAG) — critique evidence, re-search before answering.</a:t>
            </a:r>
          </a:p>
          <a:p>
            <a:pPr>
              <a:spcAft>
                <a:spcPts val="1100"/>
              </a:spcAft>
            </a:pPr>
            <a:r>
              <a:rPr sz="145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450" b="0" i="0">
                <a:solidFill>
                  <a:srgbClr val="1A1D24"/>
                </a:solidFill>
                <a:latin typeface="Arial"/>
              </a:rPr>
              <a:t>A tool-using agent for live lookups before escalating.</a:t>
            </a:r>
          </a:p>
          <a:p>
            <a:pPr>
              <a:spcAft>
                <a:spcPts val="1100"/>
              </a:spcAft>
            </a:pPr>
            <a:r>
              <a:rPr sz="145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450" b="0" i="0">
                <a:solidFill>
                  <a:srgbClr val="1A1D24"/>
                </a:solidFill>
                <a:latin typeface="Arial"/>
              </a:rPr>
              <a:t>LLM-as-judge as a 2nd </a:t>
            </a:r>
            <a:r>
              <a:rPr sz="1450" b="1" i="0">
                <a:solidFill>
                  <a:srgbClr val="1A1D24"/>
                </a:solidFill>
                <a:latin typeface="Arial"/>
              </a:rPr>
              <a:t>evaluation</a:t>
            </a:r>
            <a:r>
              <a:rPr sz="1450" b="0" i="0">
                <a:solidFill>
                  <a:srgbClr val="1A1D24"/>
                </a:solidFill>
                <a:latin typeface="Arial"/>
              </a:rPr>
              <a:t> signal (never for user-facing confidence).</a:t>
            </a:r>
          </a:p>
          <a:p>
            <a:pPr>
              <a:spcAft>
                <a:spcPts val="1100"/>
              </a:spcAft>
            </a:pPr>
            <a:r>
              <a:rPr sz="145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450" b="0" i="0">
                <a:solidFill>
                  <a:srgbClr val="1A1D24"/>
                </a:solidFill>
                <a:latin typeface="Arial"/>
              </a:rPr>
              <a:t>Hosted embeddings + hybrid search + a feedback-tuned reranker; real Confluence/Jira connectors.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2011680"/>
            <a:ext cx="5029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45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450" b="1" i="0">
                <a:solidFill>
                  <a:srgbClr val="1A1D24"/>
                </a:solidFill>
                <a:latin typeface="Arial"/>
              </a:rPr>
              <a:t>Would NOT change — the spine:</a:t>
            </a:r>
          </a:p>
          <a:p>
            <a:pPr>
              <a:spcAft>
                <a:spcPts val="1100"/>
              </a:spcAft>
            </a:pPr>
            <a:r>
              <a:rPr sz="145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450" b="0" i="0">
                <a:solidFill>
                  <a:srgbClr val="1A1D24"/>
                </a:solidFill>
                <a:latin typeface="Arial"/>
              </a:rPr>
              <a:t>Deterministic confidence.</a:t>
            </a:r>
          </a:p>
          <a:p>
            <a:pPr>
              <a:spcAft>
                <a:spcPts val="1100"/>
              </a:spcAft>
            </a:pPr>
            <a:r>
              <a:rPr sz="145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450" b="0" i="0">
                <a:solidFill>
                  <a:srgbClr val="1A1D24"/>
                </a:solidFill>
                <a:latin typeface="Arial"/>
              </a:rPr>
              <a:t>Hard citation gates.</a:t>
            </a:r>
          </a:p>
          <a:p>
            <a:pPr>
              <a:spcAft>
                <a:spcPts val="1100"/>
              </a:spcAft>
            </a:pPr>
            <a:r>
              <a:rPr sz="145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450" b="0" i="0">
                <a:solidFill>
                  <a:srgbClr val="1A1D24"/>
                </a:solidFill>
                <a:latin typeface="Arial"/>
              </a:rPr>
              <a:t>The Facts ↔ Style wall.</a:t>
            </a:r>
          </a:p>
          <a:p>
            <a:pPr>
              <a:spcAft>
                <a:spcPts val="1100"/>
              </a:spcAft>
            </a:pPr>
            <a:r>
              <a:rPr sz="145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450" b="0" i="0">
                <a:solidFill>
                  <a:srgbClr val="1A1D24"/>
                </a:solidFill>
                <a:latin typeface="Arial"/>
              </a:rPr>
              <a:t>_These earned the trust; everything else is an optimization._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6B7280"/>
                </a:solidFill>
                <a:latin typeface="Arial"/>
              </a:rPr>
              <a:t>paloalto  ·  Knowledge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Arial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A5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68680" y="2468880"/>
            <a:ext cx="164592" cy="914400"/>
          </a:xfrm>
          <a:prstGeom prst="roundRect">
            <a:avLst/>
          </a:prstGeom>
          <a:solidFill>
            <a:srgbClr val="FA5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3317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A1D24"/>
                </a:solidFill>
                <a:latin typeface="Arial"/>
              </a:rPr>
              <a:t>Questions &amp;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61188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333842"/>
                </a:solidFill>
                <a:latin typeface="Arial"/>
              </a:rPr>
              <a:t>Happy to go deeper on the architecture, the data strategy, the confidence rubric, the trade-offs, or the roadmap.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754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B7280"/>
                </a:solidFill>
                <a:latin typeface="Arial"/>
              </a:rPr>
              <a:t>Live demo available · repo + specs in the README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6B7280"/>
                </a:solidFill>
                <a:latin typeface="Arial"/>
              </a:rPr>
              <a:t>paloalto  ·  Knowledge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Arial"/>
              </a:rP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