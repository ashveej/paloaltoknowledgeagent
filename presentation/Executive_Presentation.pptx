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3108960" cy="457200"/>
          </a:xfrm>
          <a:prstGeom prst="roundRect">
            <a:avLst/>
          </a:prstGeom>
          <a:solidFill>
            <a:srgbClr val="161A26"/>
          </a:solidFill>
          <a:ln w="12700">
            <a:solidFill>
              <a:srgbClr val="FA58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7A4D"/>
                </a:solidFill>
                <a:latin typeface="Arial"/>
              </a:rPr>
              <a:t>TECHNICAL PM PANEL · 60 MIN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FFFFFF"/>
                </a:solidFill>
                <a:latin typeface="Arial"/>
              </a:rPr>
              <a:t>Evidence-Governed Knowledge Agent</a:t>
            </a:r>
          </a:p>
          <a:p>
            <a:r>
              <a:rPr sz="4400" b="1" i="0">
                <a:solidFill>
                  <a:srgbClr val="FFFFFF"/>
                </a:solidFill>
                <a:latin typeface="Arial"/>
              </a:rPr>
              <a:t>for Technical Sales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D7DAE0"/>
                </a:solidFill>
                <a:latin typeface="Arial"/>
              </a:rPr>
              <a:t>An evidence-governed RAG platform — not a chatbot. Every answer is grounded in approved sources, cites the exact text, and carries a </a:t>
            </a:r>
            <a:r>
              <a:rPr sz="1800" b="1" i="0">
                <a:solidFill>
                  <a:srgbClr val="FFFFFF"/>
                </a:solidFill>
                <a:latin typeface="Arial"/>
              </a:rPr>
              <a:t>deterministically-calculated</a:t>
            </a:r>
            <a:r>
              <a:rPr sz="1800" b="0" i="0">
                <a:solidFill>
                  <a:srgbClr val="D7DAE0"/>
                </a:solidFill>
                <a:latin typeface="Arial"/>
              </a:rPr>
              <a:t> confidence score. Weak evidence routes to an SME, whose answer becomes reusable knowledge.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9AA3B2"/>
                </a:solidFill>
                <a:latin typeface="Arial"/>
              </a:rPr>
              <a:t>Live build: FastAPI · LanceDB · Claude (Opus 4.8 / Haiku 4.5) · deterministic scoring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FF7A4D"/>
                </a:solidFill>
                <a:latin typeface="Arial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146304" cy="502920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601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How I'll use the 60 minutes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2103120"/>
          <a:ext cx="104241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1097280"/>
                <a:gridCol w="6400800"/>
              </a:tblGrid>
              <a:tr h="39624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9AA3B2"/>
                          </a:solidFill>
                          <a:latin typeface="Arial"/>
                        </a:rPr>
                        <a:t>Section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9AA3B2"/>
                          </a:solidFill>
                          <a:latin typeface="Arial"/>
                        </a:rPr>
                        <a:t>Time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9AA3B2"/>
                          </a:solidFill>
                          <a:latin typeface="Arial"/>
                        </a:rPr>
                        <a:t>What I'll prove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FF7A4D"/>
                          </a:solidFill>
                          <a:latin typeface="Arial"/>
                        </a:rPr>
                        <a:t>Introduction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E6E8EC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E6E8EC"/>
                          </a:solidFill>
                          <a:latin typeface="Arial"/>
                        </a:rPr>
                        <a:t>My Technical-PM operating system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FF7A4D"/>
                          </a:solidFill>
                          <a:latin typeface="Arial"/>
                        </a:rPr>
                        <a:t>Context &amp; Problem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E6E8EC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E6E8EC"/>
                          </a:solidFill>
                          <a:latin typeface="Arial"/>
                        </a:rPr>
                        <a:t>The user pain; why a chatbot fails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FF7A4D"/>
                          </a:solidFill>
                          <a:latin typeface="Arial"/>
                        </a:rPr>
                        <a:t>Technical Deep Dive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E6E8EC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E6E8EC"/>
                          </a:solidFill>
                          <a:latin typeface="Arial"/>
                        </a:rPr>
                        <a:t>Architecture, data pipeline, trade-offs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FF7A4D"/>
                          </a:solidFill>
                          <a:latin typeface="Arial"/>
                        </a:rPr>
                        <a:t>Evaluation &amp; Results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E6E8EC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E6E8EC"/>
                          </a:solidFill>
                          <a:latin typeface="Arial"/>
                        </a:rPr>
                        <a:t>KPI-tied eval + the hard truths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FF7A4D"/>
                          </a:solidFill>
                          <a:latin typeface="Arial"/>
                        </a:rPr>
                        <a:t>Panel Q&amp;A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E6E8EC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E6E8EC"/>
                          </a:solidFill>
                          <a:latin typeface="Arial"/>
                        </a:rPr>
                        <a:t>Defend the trade-offs and the roadmap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9AA3B2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3B2"/>
                </a:solidFill>
                <a:latin typeface="Arial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FF7A4D"/>
                </a:solidFill>
                <a:latin typeface="Arial"/>
              </a:rPr>
              <a:t>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146304" cy="502920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601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My Technical-PM operating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Slice the risk.</a:t>
            </a:r>
            <a:r>
              <a:rPr sz="1700" b="0" i="0">
                <a:solidFill>
                  <a:srgbClr val="E6E8EC"/>
                </a:solidFill>
                <a:latin typeface="Arial"/>
              </a:rPr>
              <a:t> Ship the thinnest vertical that retires the riskiest assumption first — here it's trust, not 'can an LLM answer.'</a:t>
            </a:r>
          </a:p>
          <a:p>
            <a:pPr>
              <a:spcAft>
                <a:spcPts val="1600"/>
              </a:spcAft>
            </a:pPr>
            <a:r>
              <a:rPr sz="17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Determinism where trust lives.</a:t>
            </a:r>
            <a:r>
              <a:rPr sz="1700" b="0" i="0">
                <a:solidFill>
                  <a:srgbClr val="E6E8EC"/>
                </a:solidFill>
                <a:latin typeface="Arial"/>
              </a:rPr>
              <a:t> The LLM classifies, drafts, and styles. It never decides confidence, citations, or whether to answer.</a:t>
            </a:r>
          </a:p>
          <a:p>
            <a:pPr>
              <a:spcAft>
                <a:spcPts val="1600"/>
              </a:spcAft>
            </a:pPr>
            <a:r>
              <a:rPr sz="17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Make trust legible.</a:t>
            </a:r>
            <a:r>
              <a:rPr sz="1700" b="0" i="0">
                <a:solidFill>
                  <a:srgbClr val="E6E8EC"/>
                </a:solidFill>
                <a:latin typeface="Arial"/>
              </a:rPr>
              <a:t> 'Medium because the only source is 241 days old' beats a bare label. Every score is explained; every claim shows its source.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9AA3B2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3B2"/>
                </a:solidFill>
                <a:latin typeface="Arial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FF7A4D"/>
                </a:solidFill>
                <a:latin typeface="Arial"/>
              </a:rPr>
              <a:t>CONTEXT &amp;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146304" cy="502920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601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The user, and the asymmetric cost of being wrong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Technical Sales / SEs</a:t>
            </a:r>
            <a:r>
              <a:rPr sz="1700" b="0" i="0">
                <a:solidFill>
                  <a:srgbClr val="E6E8EC"/>
                </a:solidFill>
                <a:latin typeface="Arial"/>
              </a:rPr>
              <a:t>, live in a customer call: 'Does Product X support Y in version Z?'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700" b="0" i="0">
                <a:solidFill>
                  <a:srgbClr val="E6E8EC"/>
                </a:solidFill>
                <a:latin typeface="Arial"/>
              </a:rPr>
              <a:t>A confident-but-wrong answer loses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credibility</a:t>
            </a:r>
            <a:r>
              <a:rPr sz="1700" b="0" i="0">
                <a:solidFill>
                  <a:srgbClr val="E6E8EC"/>
                </a:solidFill>
                <a:latin typeface="Arial"/>
              </a:rPr>
              <a:t> and the deal.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700" b="0" i="0">
                <a:solidFill>
                  <a:srgbClr val="E6E8EC"/>
                </a:solidFill>
                <a:latin typeface="Arial"/>
              </a:rPr>
              <a:t>Truth is scattered across docs, release notes, and wikis — and it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goes stale</a:t>
            </a:r>
            <a:r>
              <a:rPr sz="1700" b="0" i="0">
                <a:solidFill>
                  <a:srgbClr val="E6E8EC"/>
                </a:solidFill>
                <a:latin typeface="Arial"/>
              </a:rPr>
              <a:t>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700" b="0" i="0">
                <a:solidFill>
                  <a:srgbClr val="E6E8EC"/>
                </a:solidFill>
                <a:latin typeface="Arial"/>
              </a:rPr>
              <a:t>A generic chatbot makes it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worse</a:t>
            </a:r>
            <a:r>
              <a:rPr sz="1700" b="0" i="0">
                <a:solidFill>
                  <a:srgbClr val="E6E8EC"/>
                </a:solidFill>
                <a:latin typeface="Arial"/>
              </a:rPr>
              <a:t> — it hallucinates with no proof and no audit trail.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700" b="0" i="0">
                <a:solidFill>
                  <a:srgbClr val="E6E8EC"/>
                </a:solidFill>
                <a:latin typeface="Arial"/>
              </a:rPr>
              <a:t>→ The task is an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evidence-governed RAG system</a:t>
            </a:r>
            <a:r>
              <a:rPr sz="1700" b="0" i="0">
                <a:solidFill>
                  <a:srgbClr val="E6E8EC"/>
                </a:solidFill>
                <a:latin typeface="Arial"/>
              </a:rPr>
              <a:t>, not a chatbot.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9AA3B2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3B2"/>
                </a:solidFill>
                <a:latin typeface="Arial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FF7A4D"/>
                </a:solidFill>
                <a:latin typeface="Arial"/>
              </a:rPr>
              <a:t>PRODUCT PRINCIPLES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146304" cy="502920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601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Four non-negotiables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9456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No citation → no answer.</a:t>
            </a:r>
            <a:r>
              <a:rPr sz="1600" b="0" i="0">
                <a:solidFill>
                  <a:srgbClr val="E6E8EC"/>
                </a:solidFill>
                <a:latin typeface="Arial"/>
              </a:rPr>
              <a:t> Every claim maps to approved source text, in code — not by prompt.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Confidence is calculated, not generated.</a:t>
            </a:r>
            <a:r>
              <a:rPr sz="1600" b="0" i="0">
                <a:solidFill>
                  <a:srgbClr val="E6E8EC"/>
                </a:solidFill>
                <a:latin typeface="Arial"/>
              </a:rPr>
              <a:t> The LLM never sets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219456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Brand voice is a presentation layer.</a:t>
            </a:r>
            <a:r>
              <a:rPr sz="1600" b="0" i="0">
                <a:solidFill>
                  <a:srgbClr val="E6E8EC"/>
                </a:solidFill>
                <a:latin typeface="Arial"/>
              </a:rPr>
              <a:t> It can clarify; it can't add claims or drop caveats.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SME answers become governed knowledge</a:t>
            </a:r>
            <a:r>
              <a:rPr sz="1600" b="0" i="0">
                <a:solidFill>
                  <a:srgbClr val="E6E8EC"/>
                </a:solidFill>
                <a:latin typeface="Arial"/>
              </a:rPr>
              <a:t> — owned, citable, review-dated.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9AA3B2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3B2"/>
                </a:solidFill>
                <a:latin typeface="Arial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FF7A4D"/>
                </a:solidFill>
                <a:latin typeface="Arial"/>
              </a:rPr>
              <a:t>TECHNICAL DEEP DIVE ·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146304" cy="502920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601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End-to-end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92024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FFFFFF"/>
                </a:solidFill>
                <a:latin typeface="Arial"/>
              </a:rPr>
              <a:t>1 Classify</a:t>
            </a:r>
            <a:r>
              <a:rPr sz="1500" b="0" i="0">
                <a:solidFill>
                  <a:srgbClr val="E6E8EC"/>
                </a:solidFill>
                <a:latin typeface="Arial"/>
              </a:rPr>
              <a:t> (Haiku) — product / feature / intent.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FFFFFF"/>
                </a:solidFill>
                <a:latin typeface="Arial"/>
              </a:rPr>
              <a:t>2 Retrieve</a:t>
            </a:r>
            <a:r>
              <a:rPr sz="1500" b="0" i="0">
                <a:solidFill>
                  <a:srgbClr val="E6E8EC"/>
                </a:solidFill>
                <a:latin typeface="Arial"/>
              </a:rPr>
              <a:t> (LanceDB) — vector search → rerank → freshness/reputation boost; drop deprecated/unapproved.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FFFFFF"/>
                </a:solidFill>
                <a:latin typeface="Arial"/>
              </a:rPr>
              <a:t>3 Evidence Pack</a:t>
            </a:r>
            <a:r>
              <a:rPr sz="1500" b="0" i="0">
                <a:solidFill>
                  <a:srgbClr val="E6E8EC"/>
                </a:solidFill>
                <a:latin typeface="Arial"/>
              </a:rPr>
              <a:t> — hand the model ONLY the retrieved passages.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FFFFFF"/>
                </a:solidFill>
                <a:latin typeface="Arial"/>
              </a:rPr>
              <a:t>4 Facts engine</a:t>
            </a:r>
            <a:r>
              <a:rPr sz="1500" b="0" i="0">
                <a:solidFill>
                  <a:srgbClr val="E6E8EC"/>
                </a:solidFill>
                <a:latin typeface="Arial"/>
              </a:rPr>
              <a:t> (Opus) — claim-first answer; every claim cites a passage.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FFFFFF"/>
                </a:solidFill>
                <a:latin typeface="Arial"/>
              </a:rPr>
              <a:t>5 GATES</a:t>
            </a:r>
            <a:r>
              <a:rPr sz="1500" b="0" i="0">
                <a:solidFill>
                  <a:srgbClr val="E6E8EC"/>
                </a:solidFill>
                <a:latin typeface="Arial"/>
              </a:rPr>
              <a:t> (Python) — cited? approved? not deprecated? product match?  → fail = escalate.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FFFFFF"/>
                </a:solidFill>
                <a:latin typeface="Arial"/>
              </a:rPr>
              <a:t>6 SCORE</a:t>
            </a:r>
            <a:r>
              <a:rPr sz="1500" b="0" i="0">
                <a:solidFill>
                  <a:srgbClr val="E6E8EC"/>
                </a:solidFill>
                <a:latin typeface="Arial"/>
              </a:rPr>
              <a:t> (Python) — Technical Trust Score + caps → High / Medium / Low.  → Low = escalate.</a:t>
            </a:r>
          </a:p>
          <a:p>
            <a:pPr>
              <a:spcAft>
                <a:spcPts val="9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FFFFFF"/>
                </a:solidFill>
                <a:latin typeface="Arial"/>
              </a:rPr>
              <a:t>7 Style</a:t>
            </a:r>
            <a:r>
              <a:rPr sz="1500" b="0" i="0">
                <a:solidFill>
                  <a:srgbClr val="E6E8EC"/>
                </a:solidFill>
                <a:latin typeface="Arial"/>
              </a:rPr>
              <a:t> (Opus) — brand voice over validated claims, then re-checked.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9AA3B2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3B2"/>
                </a:solidFill>
                <a:latin typeface="Arial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FF7A4D"/>
                </a:solidFill>
                <a:latin typeface="Arial"/>
              </a:rPr>
              <a:t>TECHNICAL DEEP DIVE · THE KEY IDEA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146304" cy="502920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601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The Facts ↔ Style wall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7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Facts engine</a:t>
            </a:r>
            <a:r>
              <a:rPr sz="1700" b="0" i="0">
                <a:solidFill>
                  <a:srgbClr val="E6E8EC"/>
                </a:solidFill>
                <a:latin typeface="Arial"/>
              </a:rPr>
              <a:t> touches evidence → produces validated claims + caveats + a calculated confidence. Never styles.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Style layer</a:t>
            </a:r>
            <a:r>
              <a:rPr sz="1700" b="0" i="0">
                <a:solidFill>
                  <a:srgbClr val="E6E8EC"/>
                </a:solidFill>
                <a:latin typeface="Arial"/>
              </a:rPr>
              <a:t> never sees raw docs → rewrites in brand voice, then is re-checked: no new claims, no dropped caveats.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700" b="0" i="0">
                <a:solidFill>
                  <a:srgbClr val="E6E8EC"/>
                </a:solidFill>
                <a:latin typeface="Arial"/>
              </a:rPr>
              <a:t>This is how you answer 'make it less robotic'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without</a:t>
            </a:r>
            <a:r>
              <a:rPr sz="1700" b="0" i="0">
                <a:solidFill>
                  <a:srgbClr val="E6E8EC"/>
                </a:solidFill>
                <a:latin typeface="Arial"/>
              </a:rPr>
              <a:t> risking accuracy.</a:t>
            </a:r>
          </a:p>
          <a:p>
            <a:pPr>
              <a:spcAft>
                <a:spcPts val="1400"/>
              </a:spcAft>
            </a:pPr>
            <a:r>
              <a:rPr sz="17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700" b="0" i="0">
                <a:solidFill>
                  <a:srgbClr val="E6E8EC"/>
                </a:solidFill>
                <a:latin typeface="Arial"/>
              </a:rPr>
              <a:t>Voice and trust are scored separately —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voice can never raise trust</a:t>
            </a:r>
            <a:r>
              <a:rPr sz="1700" b="0" i="0">
                <a:solidFill>
                  <a:srgbClr val="E6E8EC"/>
                </a:solidFill>
                <a:latin typeface="Arial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9AA3B2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3B2"/>
                </a:solidFill>
                <a:latin typeface="Arial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FF7A4D"/>
                </a:solidFill>
                <a:latin typeface="Arial"/>
              </a:rPr>
              <a:t>DATA STRATEGY · ACQUISITION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146304" cy="502920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601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Three sources, on purpose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Real docs</a:t>
            </a:r>
            <a:r>
              <a:rPr sz="1600" b="0" i="0">
                <a:solidFill>
                  <a:srgbClr val="E6E8EC"/>
                </a:solidFill>
                <a:latin typeface="Arial"/>
              </a:rPr>
              <a:t> — crawled docs.paloaltonetworks.com (Prisma Access, Cortex XDR, NGFW). ~17 pages, 68 passages.</a:t>
            </a:r>
          </a:p>
          <a:p>
            <a:pPr>
              <a:spcAft>
                <a:spcPts val="13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PDFs</a:t>
            </a:r>
            <a:r>
              <a:rPr sz="1600" b="0" i="0">
                <a:solidFill>
                  <a:srgbClr val="E6E8EC"/>
                </a:solidFill>
                <a:latin typeface="Arial"/>
              </a:rPr>
              <a:t> — ingested via pypdf with a metadata sidecar.</a:t>
            </a:r>
          </a:p>
          <a:p>
            <a:pPr>
              <a:spcAft>
                <a:spcPts val="13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Synthetic</a:t>
            </a:r>
            <a:r>
              <a:rPr sz="1600" b="0" i="0">
                <a:solidFill>
                  <a:srgbClr val="E6E8EC"/>
                </a:solidFill>
                <a:latin typeface="Arial"/>
              </a:rPr>
              <a:t> — hand-generated stale + deprecated edge cases. You can't test a freshness rule without a stale doc.</a:t>
            </a:r>
          </a:p>
          <a:p>
            <a:pPr>
              <a:spcAft>
                <a:spcPts val="13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Hard truth:</a:t>
            </a:r>
            <a:r>
              <a:rPr sz="1600" b="0" i="0">
                <a:solidFill>
                  <a:srgbClr val="E6E8EC"/>
                </a:solidFill>
                <a:latin typeface="Arial"/>
              </a:rPr>
              <a:t> the Cortex portal is JavaScript-rendered → couldn't crawl it → I named the gap instead of faking coverage.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9AA3B2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3B2"/>
                </a:solidFill>
                <a:latin typeface="Arial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FF7A4D"/>
                </a:solidFill>
                <a:latin typeface="Arial"/>
              </a:rPr>
              <a:t>DATA STRATEGY · QUALITY &amp; ALIGNMENT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146304" cy="502920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601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Metadata is a first-class citizen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700" b="0" i="0">
                <a:solidFill>
                  <a:srgbClr val="E6E8EC"/>
                </a:solidFill>
                <a:latin typeface="Arial"/>
              </a:rPr>
              <a:t>Every passage carries product, feature, version, source type, owner,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last-reviewed date</a:t>
            </a:r>
            <a:r>
              <a:rPr sz="1700" b="0" i="0">
                <a:solidFill>
                  <a:srgbClr val="E6E8EC"/>
                </a:solidFill>
                <a:latin typeface="Arial"/>
              </a:rPr>
              <a:t>,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deprecated flag</a:t>
            </a:r>
            <a:r>
              <a:rPr sz="1700" b="0" i="0">
                <a:solidFill>
                  <a:srgbClr val="E6E8EC"/>
                </a:solidFill>
                <a:latin typeface="Arial"/>
              </a:rPr>
              <a:t>, approval status, votes.</a:t>
            </a:r>
          </a:p>
          <a:p>
            <a:pPr>
              <a:spcAft>
                <a:spcPts val="1600"/>
              </a:spcAft>
            </a:pPr>
            <a:r>
              <a:rPr sz="17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700" b="0" i="0">
                <a:solidFill>
                  <a:srgbClr val="E6E8EC"/>
                </a:solidFill>
                <a:latin typeface="Arial"/>
              </a:rPr>
              <a:t>Metadata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drives</a:t>
            </a:r>
            <a:r>
              <a:rPr sz="1700" b="0" i="0">
                <a:solidFill>
                  <a:srgbClr val="E6E8EC"/>
                </a:solidFill>
                <a:latin typeface="Arial"/>
              </a:rPr>
              <a:t> retrieval (deprecated never surfaces), scoring (authority + freshness), and routing.</a:t>
            </a:r>
          </a:p>
          <a:p>
            <a:pPr>
              <a:spcAft>
                <a:spcPts val="1600"/>
              </a:spcAft>
            </a:pPr>
            <a:r>
              <a:rPr sz="17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700" b="0" i="0">
                <a:solidFill>
                  <a:srgbClr val="E6E8EC"/>
                </a:solidFill>
                <a:latin typeface="Arial"/>
              </a:rPr>
              <a:t>Analogy: a governed Salesforce object with required fields — not a free-text notes field.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9AA3B2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3B2"/>
                </a:solidFill>
                <a:latin typeface="Arial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FF7A4D"/>
                </a:solidFill>
                <a:latin typeface="Arial"/>
              </a:rPr>
              <a:t>TECHNICAL DEEP DIVE · TRADE-OFFS TO DEFEND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146304" cy="502920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601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Build the differentiator, buy the commodity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920240"/>
          <a:ext cx="10424160" cy="2761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377440"/>
                <a:gridCol w="2377440"/>
                <a:gridCol w="3931920"/>
              </a:tblGrid>
              <a:tr h="394498"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9AA3B2"/>
                          </a:solidFill>
                          <a:latin typeface="Arial"/>
                        </a:rPr>
                        <a:t>Decision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9AA3B2"/>
                          </a:solidFill>
                          <a:latin typeface="Arial"/>
                        </a:rPr>
                        <a:t>Chose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9AA3B2"/>
                          </a:solidFill>
                          <a:latin typeface="Arial"/>
                        </a:rPr>
                        <a:t>Over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1" i="0">
                          <a:solidFill>
                            <a:srgbClr val="9AA3B2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FF7A4D"/>
                          </a:solidFill>
                          <a:latin typeface="Arial"/>
                        </a:rPr>
                        <a:t>Confidence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E6E8EC"/>
                          </a:solidFill>
                          <a:latin typeface="Arial"/>
                        </a:rPr>
                        <a:t>Deterministic rubric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E6E8EC"/>
                          </a:solidFill>
                          <a:latin typeface="Arial"/>
                        </a:rPr>
                        <a:t>LLM-judged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E6E8EC"/>
                          </a:solidFill>
                          <a:latin typeface="Arial"/>
                        </a:rPr>
                        <a:t>Auditable; can't be gamed by fluency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FF7A4D"/>
                          </a:solidFill>
                          <a:latin typeface="Arial"/>
                        </a:rPr>
                        <a:t>Grounding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E6E8EC"/>
                          </a:solidFill>
                          <a:latin typeface="Arial"/>
                        </a:rPr>
                        <a:t>Hard gates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E6E8EC"/>
                          </a:solidFill>
                          <a:latin typeface="Arial"/>
                        </a:rPr>
                        <a:t>Prompt 'please cite'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E6E8EC"/>
                          </a:solidFill>
                          <a:latin typeface="Arial"/>
                        </a:rPr>
                        <a:t>A gate guarantees; a prompt hopes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FF7A4D"/>
                          </a:solidFill>
                          <a:latin typeface="Arial"/>
                        </a:rPr>
                        <a:t>Vector store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E6E8EC"/>
                          </a:solidFill>
                          <a:latin typeface="Arial"/>
                        </a:rPr>
                        <a:t>LanceDB (embedded)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E6E8EC"/>
                          </a:solidFill>
                          <a:latin typeface="Arial"/>
                        </a:rPr>
                        <a:t>Pinecone / pgvector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E6E8EC"/>
                          </a:solidFill>
                          <a:latin typeface="Arial"/>
                        </a:rPr>
                        <a:t>Vectors+metadata+rerank, zero infra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FF7A4D"/>
                          </a:solidFill>
                          <a:latin typeface="Arial"/>
                        </a:rPr>
                        <a:t>Facts model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E6E8EC"/>
                          </a:solidFill>
                          <a:latin typeface="Arial"/>
                        </a:rPr>
                        <a:t>Opus 4.8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E6E8EC"/>
                          </a:solidFill>
                          <a:latin typeface="Arial"/>
                        </a:rPr>
                        <a:t>Haiku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E6E8EC"/>
                          </a:solidFill>
                          <a:latin typeface="Arial"/>
                        </a:rPr>
                        <a:t>Accuracy where hallucination hurts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FF7A4D"/>
                          </a:solidFill>
                          <a:latin typeface="Arial"/>
                        </a:rPr>
                        <a:t>Classifier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E6E8EC"/>
                          </a:solidFill>
                          <a:latin typeface="Arial"/>
                        </a:rPr>
                        <a:t>Haiku 4.5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E6E8EC"/>
                          </a:solidFill>
                          <a:latin typeface="Arial"/>
                        </a:rPr>
                        <a:t>Opus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E6E8EC"/>
                          </a:solidFill>
                          <a:latin typeface="Arial"/>
                        </a:rPr>
                        <a:t>Latency / cost on a routing call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</a:tr>
              <a:tr h="39450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FF7A4D"/>
                          </a:solidFill>
                          <a:latin typeface="Arial"/>
                        </a:rPr>
                        <a:t>Embeddings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E6E8EC"/>
                          </a:solidFill>
                          <a:latin typeface="Arial"/>
                        </a:rPr>
                        <a:t>Local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E6E8EC"/>
                          </a:solidFill>
                          <a:latin typeface="Arial"/>
                        </a:rPr>
                        <a:t>Voyage / OpenAI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E6E8EC"/>
                          </a:solidFill>
                          <a:latin typeface="Arial"/>
                        </a:rPr>
                        <a:t>Free/offline MVP; one-line swap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9AA3B2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3B2"/>
                </a:solidFill>
                <a:latin typeface="Arial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FF7A4D"/>
                </a:solidFill>
                <a:latin typeface="Arial"/>
              </a:rPr>
              <a:t>HUMAN IN THE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146304" cy="502920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601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The interface between AI logic &amp; the 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Attribution UI</a:t>
            </a:r>
            <a:r>
              <a:rPr sz="1600" b="0" i="0">
                <a:solidFill>
                  <a:srgbClr val="E6E8EC"/>
                </a:solidFill>
                <a:latin typeface="Arial"/>
              </a:rPr>
              <a:t> — the exact cited source text is shown inline; verify without leaving the screen.</a:t>
            </a:r>
          </a:p>
          <a:p>
            <a:pPr>
              <a:spcAft>
                <a:spcPts val="12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Explainable confidence</a:t>
            </a:r>
            <a:r>
              <a:rPr sz="1600" b="0" i="0">
                <a:solidFill>
                  <a:srgbClr val="E6E8EC"/>
                </a:solidFill>
                <a:latin typeface="Arial"/>
              </a:rPr>
              <a:t> — pill + score breakdown + the cap reason.</a:t>
            </a:r>
          </a:p>
          <a:p>
            <a:pPr>
              <a:spcAft>
                <a:spcPts val="12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SME flywheel</a:t>
            </a:r>
            <a:r>
              <a:rPr sz="1600" b="0" i="0">
                <a:solidFill>
                  <a:srgbClr val="E6E8EC"/>
                </a:solidFill>
                <a:latin typeface="Arial"/>
              </a:rPr>
              <a:t> — escalate → feature-level routing → email the SME → Approve &amp; Publish → instantly citable.</a:t>
            </a:r>
          </a:p>
          <a:p>
            <a:pPr>
              <a:spcAft>
                <a:spcPts val="12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1" i="0">
                <a:solidFill>
                  <a:srgbClr val="FFFFFF"/>
                </a:solidFill>
                <a:latin typeface="Arial"/>
              </a:rPr>
              <a:t>Feedback → ranking, not retraining</a:t>
            </a:r>
            <a:r>
              <a:rPr sz="1600" b="0" i="0">
                <a:solidFill>
                  <a:srgbClr val="E6E8EC"/>
                </a:solidFill>
                <a:latin typeface="Arial"/>
              </a:rPr>
              <a:t> — 'wrong answer' lowers reputation + opens a ticket.</a:t>
            </a:r>
          </a:p>
          <a:p>
            <a:pPr>
              <a:spcAft>
                <a:spcPts val="12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0" i="0">
                <a:solidFill>
                  <a:srgbClr val="E6E8EC"/>
                </a:solidFill>
                <a:latin typeface="Arial"/>
              </a:rPr>
              <a:t>Analogy: Omni-Channel routing + Approval Process + Knowledge publishing.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9AA3B2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3B2"/>
                </a:solidFill>
                <a:latin typeface="Arial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FF7A4D"/>
                </a:solidFill>
                <a:latin typeface="Arial"/>
              </a:rPr>
              <a:t>EVALUATION &amp; SUCCESS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146304" cy="502920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601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Success = trust SLOs, tied to the business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920240"/>
          <a:ext cx="10424160" cy="2761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463040"/>
                <a:gridCol w="4389120"/>
              </a:tblGrid>
              <a:tr h="394498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9AA3B2"/>
                          </a:solidFill>
                          <a:latin typeface="Arial"/>
                        </a:rPr>
                        <a:t>KPI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9AA3B2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9AA3B2"/>
                          </a:solidFill>
                          <a:latin typeface="Arial"/>
                        </a:rPr>
                        <a:t>Why it's the business metric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FF7A4D"/>
                          </a:solidFill>
                          <a:latin typeface="Arial"/>
                        </a:rPr>
                        <a:t>Factual claims with a citation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E6E8EC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E6E8EC"/>
                          </a:solidFill>
                          <a:latin typeface="Arial"/>
                        </a:rPr>
                        <a:t>The product promise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FF7A4D"/>
                          </a:solidFill>
                          <a:latin typeface="Arial"/>
                        </a:rPr>
                        <a:t>Broken-citation rate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E6E8EC"/>
                          </a:solidFill>
                          <a:latin typeface="Arial"/>
                        </a:rPr>
                        <a:t>&lt; 1%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E6E8EC"/>
                          </a:solidFill>
                          <a:latin typeface="Arial"/>
                        </a:rPr>
                        <a:t>A dead link kills credibility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FF7A4D"/>
                          </a:solidFill>
                          <a:latin typeface="Arial"/>
                        </a:rPr>
                        <a:t>Unsupported-claim rate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E6E8EC"/>
                          </a:solidFill>
                          <a:latin typeface="Arial"/>
                        </a:rPr>
                        <a:t>&lt; 2%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E6E8EC"/>
                          </a:solidFill>
                          <a:latin typeface="Arial"/>
                        </a:rPr>
                        <a:t>Hallucination ceiling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FF7A4D"/>
                          </a:solidFill>
                          <a:latin typeface="Arial"/>
                        </a:rPr>
                        <a:t>Deprecated-source usage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E6E8EC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E6E8EC"/>
                          </a:solidFill>
                          <a:latin typeface="Arial"/>
                        </a:rPr>
                        <a:t>Wrong-version answers lose deals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</a:tr>
              <a:tr h="39449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FF7A4D"/>
                          </a:solidFill>
                          <a:latin typeface="Arial"/>
                        </a:rPr>
                        <a:t>Low-confidence shown w/o escalation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E6E8EC"/>
                          </a:solidFill>
                          <a:latin typeface="Arial"/>
                        </a:rPr>
                        <a:t>0%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E6E8EC"/>
                          </a:solidFill>
                          <a:latin typeface="Arial"/>
                        </a:rPr>
                        <a:t>Know what you don't know</a:t>
                      </a:r>
                    </a:p>
                  </a:txBody>
                  <a:tcPr>
                    <a:solidFill>
                      <a:srgbClr val="0C0E14"/>
                    </a:solidFill>
                  </a:tcPr>
                </a:tc>
              </a:tr>
              <a:tr h="3945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FF7A4D"/>
                          </a:solidFill>
                          <a:latin typeface="Arial"/>
                        </a:rPr>
                        <a:t>SME-answer reuse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E6E8EC"/>
                          </a:solidFill>
                          <a:latin typeface="Arial"/>
                        </a:rPr>
                        <a:t>↑ MoM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E6E8EC"/>
                          </a:solidFill>
                          <a:latin typeface="Arial"/>
                        </a:rPr>
                        <a:t>The flywheel is working</a:t>
                      </a:r>
                    </a:p>
                  </a:txBody>
                  <a:tcPr>
                    <a:solidFill>
                      <a:srgbClr val="161A2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9AA3B2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3B2"/>
                </a:solidFill>
                <a:latin typeface="Arial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FF7A4D"/>
                </a:solidFill>
                <a:latin typeface="Arial"/>
              </a:rPr>
              <a:t>EVALUATION &amp; RESULTS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146304" cy="502920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601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The harness, and what it showed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5 easy / 5 medium / 5 hard</a:t>
            </a:r>
            <a:r>
              <a:rPr sz="1700" b="0" i="0">
                <a:solidFill>
                  <a:srgbClr val="E6E8EC"/>
                </a:solidFill>
                <a:latin typeface="Arial"/>
              </a:rPr>
              <a:t> question set, run live →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5/5/5</a:t>
            </a:r>
            <a:r>
              <a:rPr sz="1700" b="0" i="0">
                <a:solidFill>
                  <a:srgbClr val="E6E8EC"/>
                </a:solidFill>
                <a:latin typeface="Arial"/>
              </a:rPr>
              <a:t>: easy→High, medium→Medium (capped), hard→escalated.</a:t>
            </a:r>
          </a:p>
          <a:p>
            <a:pPr>
              <a:spcAft>
                <a:spcPts val="1600"/>
              </a:spcAft>
            </a:pPr>
            <a:r>
              <a:rPr sz="17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33 unit tests</a:t>
            </a:r>
            <a:r>
              <a:rPr sz="1700" b="0" i="0">
                <a:solidFill>
                  <a:srgbClr val="E6E8EC"/>
                </a:solidFill>
                <a:latin typeface="Arial"/>
              </a:rPr>
              <a:t> lock the deterministic scoring so it can't silently drift.</a:t>
            </a:r>
          </a:p>
          <a:p>
            <a:pPr>
              <a:spcAft>
                <a:spcPts val="1600"/>
              </a:spcAft>
            </a:pPr>
            <a:r>
              <a:rPr sz="17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700" b="0" i="0">
                <a:solidFill>
                  <a:srgbClr val="E6E8EC"/>
                </a:solidFill>
                <a:latin typeface="Arial"/>
              </a:rPr>
              <a:t>Rubric demonstrated: a real 241-day-old source caps to Medium; &gt;365 days → Low/escalate.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9AA3B2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3B2"/>
                </a:solidFill>
                <a:latin typeface="Arial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FF7A4D"/>
                </a:solidFill>
                <a:latin typeface="Arial"/>
              </a:rPr>
              <a:t>EVALUATION &amp; RESULTS · THE HARD TRUTHS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146304" cy="502920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601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What broke — and what it taught 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10424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5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50" b="1" i="0">
                <a:solidFill>
                  <a:srgbClr val="FFFFFF"/>
                </a:solidFill>
                <a:latin typeface="Arial"/>
              </a:rPr>
              <a:t>Rerankers aren't calibrated.</a:t>
            </a:r>
            <a:r>
              <a:rPr sz="1550" b="0" i="0">
                <a:solidFill>
                  <a:srgbClr val="E6E8EC"/>
                </a:solidFill>
                <a:latin typeface="Arial"/>
              </a:rPr>
              <a:t> The correct passage scored lower than an off-topic one; rerankers order, the LLM judges sufficiency.</a:t>
            </a:r>
          </a:p>
          <a:p>
            <a:pPr>
              <a:spcAft>
                <a:spcPts val="1200"/>
              </a:spcAft>
            </a:pPr>
            <a:r>
              <a:rPr sz="155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50" b="1" i="0">
                <a:solidFill>
                  <a:srgbClr val="FFFFFF"/>
                </a:solidFill>
                <a:latin typeface="Arial"/>
              </a:rPr>
              <a:t>Opus deprecates `temperature`.</a:t>
            </a:r>
            <a:r>
              <a:rPr sz="1550" b="0" i="0">
                <a:solidFill>
                  <a:srgbClr val="E6E8EC"/>
                </a:solidFill>
                <a:latin typeface="Arial"/>
              </a:rPr>
              <a:t> Chasing determinism I set it → error → the fail-safe escalated all 15. Determinism belongs in Python.</a:t>
            </a:r>
          </a:p>
          <a:p>
            <a:pPr>
              <a:spcAft>
                <a:spcPts val="1200"/>
              </a:spcAft>
            </a:pPr>
            <a:r>
              <a:rPr sz="155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50" b="1" i="0">
                <a:solidFill>
                  <a:srgbClr val="FFFFFF"/>
                </a:solidFill>
                <a:latin typeface="Arial"/>
              </a:rPr>
              <a:t>A fail-safe became bad UX.</a:t>
            </a:r>
            <a:r>
              <a:rPr sz="1550" b="0" i="0">
                <a:solidFill>
                  <a:srgbClr val="E6E8EC"/>
                </a:solidFill>
                <a:latin typeface="Arial"/>
              </a:rPr>
              <a:t> It over-escalated answerable questions; I tuned it to answer when grounded.</a:t>
            </a:r>
          </a:p>
          <a:p>
            <a:pPr>
              <a:spcAft>
                <a:spcPts val="1200"/>
              </a:spcAft>
            </a:pPr>
            <a:r>
              <a:rPr sz="155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50" b="1" i="0">
                <a:solidFill>
                  <a:srgbClr val="FFFFFF"/>
                </a:solidFill>
                <a:latin typeface="Arial"/>
              </a:rPr>
              <a:t>One downvote shouldn't bury a source.</a:t>
            </a:r>
            <a:r>
              <a:rPr sz="1550" b="0" i="0">
                <a:solidFill>
                  <a:srgbClr val="E6E8EC"/>
                </a:solidFill>
                <a:latin typeface="Arial"/>
              </a:rPr>
              <a:t> Added a 5-vote floor before reputation can cap.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9AA3B2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3B2"/>
                </a:solidFill>
                <a:latin typeface="Arial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FF7A4D"/>
                </a:solidFill>
                <a:latin typeface="Arial"/>
              </a:rPr>
              <a:t>RETROSPECTIVE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146304" cy="502920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601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If I rebuilt it on today's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FFFFFF"/>
                </a:solidFill>
                <a:latin typeface="Arial"/>
              </a:rPr>
              <a:t>Would change: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0" i="0">
                <a:solidFill>
                  <a:srgbClr val="E6E8EC"/>
                </a:solidFill>
                <a:latin typeface="Arial"/>
              </a:rPr>
              <a:t>Agentic (Corrective/Self-RAG) retrieval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0" i="0">
                <a:solidFill>
                  <a:srgbClr val="E6E8EC"/>
                </a:solidFill>
                <a:latin typeface="Arial"/>
              </a:rPr>
              <a:t>A tool-using agent for live lookups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0" i="0">
                <a:solidFill>
                  <a:srgbClr val="E6E8EC"/>
                </a:solidFill>
                <a:latin typeface="Arial"/>
              </a:rPr>
              <a:t>LLM-as-judge as a 2nd eval signal (never confidence)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0" i="0">
                <a:solidFill>
                  <a:srgbClr val="E6E8EC"/>
                </a:solidFill>
                <a:latin typeface="Arial"/>
              </a:rPr>
              <a:t>Voyage embeddings + hybrid + fine-tuned reranker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0" i="0">
                <a:solidFill>
                  <a:srgbClr val="E6E8EC"/>
                </a:solidFill>
                <a:latin typeface="Arial"/>
              </a:rPr>
              <a:t>Real connectors + streaming UX + agentic SME drafting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201168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1" i="0">
                <a:solidFill>
                  <a:srgbClr val="FFFFFF"/>
                </a:solidFill>
                <a:latin typeface="Arial"/>
              </a:rPr>
              <a:t>Would NOT change — the spine: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0" i="0">
                <a:solidFill>
                  <a:srgbClr val="E6E8EC"/>
                </a:solidFill>
                <a:latin typeface="Arial"/>
              </a:rPr>
              <a:t>Deterministic confidence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0" i="0">
                <a:solidFill>
                  <a:srgbClr val="E6E8EC"/>
                </a:solidFill>
                <a:latin typeface="Arial"/>
              </a:rPr>
              <a:t>Hard citation gates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0" i="0">
                <a:solidFill>
                  <a:srgbClr val="E6E8EC"/>
                </a:solidFill>
                <a:latin typeface="Arial"/>
              </a:rPr>
              <a:t>The Facts ↔ Style wall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500" b="0" i="0">
                <a:solidFill>
                  <a:srgbClr val="E6E8EC"/>
                </a:solidFill>
                <a:latin typeface="Arial"/>
              </a:rPr>
              <a:t>These earned the trust; the rest is optimization.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9AA3B2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3B2"/>
                </a:solidFill>
                <a:latin typeface="Arial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 i="0">
                <a:solidFill>
                  <a:srgbClr val="FF7A4D"/>
                </a:solidFill>
                <a:latin typeface="Arial"/>
              </a:rPr>
              <a:t>PANEL Q&amp;A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051560"/>
            <a:ext cx="146304" cy="502920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6012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Arial"/>
              </a:rPr>
              <a:t>Ready to defend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512064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0" i="0">
                <a:solidFill>
                  <a:srgbClr val="E6E8EC"/>
                </a:solidFill>
                <a:latin typeface="Arial"/>
              </a:rPr>
              <a:t>Why deterministic confidence, not the model's?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0" i="0">
                <a:solidFill>
                  <a:srgbClr val="E6E8EC"/>
                </a:solidFill>
                <a:latin typeface="Arial"/>
              </a:rPr>
              <a:t>How do you actually stop hallucination?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0" i="0">
                <a:solidFill>
                  <a:srgbClr val="E6E8EC"/>
                </a:solidFill>
                <a:latin typeface="Arial"/>
              </a:rPr>
              <a:t>Brand voice vs accuracy — both, how?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0" i="0">
                <a:solidFill>
                  <a:srgbClr val="E6E8EC"/>
                </a:solidFill>
                <a:latin typeface="Arial"/>
              </a:rPr>
              <a:t>A doc is downvoted or stale — what happens?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2103120"/>
            <a:ext cx="50292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0" i="0">
                <a:solidFill>
                  <a:srgbClr val="E6E8EC"/>
                </a:solidFill>
                <a:latin typeface="Arial"/>
              </a:rPr>
              <a:t>Build vs buy — justify LanceDB / local models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0" i="0">
                <a:solidFill>
                  <a:srgbClr val="E6E8EC"/>
                </a:solidFill>
                <a:latin typeface="Arial"/>
              </a:rPr>
              <a:t>Latency &amp; cost at scale?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0" i="0">
                <a:solidFill>
                  <a:srgbClr val="E6E8EC"/>
                </a:solidFill>
                <a:latin typeface="Arial"/>
              </a:rPr>
              <a:t>How do you measure ROI to an exec?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FA582D"/>
                </a:solidFill>
                <a:latin typeface="Arial"/>
              </a:rPr>
              <a:t>●  </a:t>
            </a:r>
            <a:r>
              <a:rPr sz="1600" b="0" i="0">
                <a:solidFill>
                  <a:srgbClr val="E6E8EC"/>
                </a:solidFill>
                <a:latin typeface="Arial"/>
              </a:rPr>
              <a:t>Biggest risk?  (stale knowledge, confidently presented)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4008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9AA3B2"/>
                </a:solidFill>
                <a:latin typeface="Arial"/>
              </a:rPr>
              <a:t>paloalto  ·  Knowledge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0" y="6400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9AA3B2"/>
                </a:solidFill>
                <a:latin typeface="Arial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FA5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828800"/>
            <a:ext cx="1828800" cy="457200"/>
          </a:xfrm>
          <a:prstGeom prst="roundRect">
            <a:avLst/>
          </a:prstGeom>
          <a:solidFill>
            <a:srgbClr val="161A26"/>
          </a:solidFill>
          <a:ln w="12700">
            <a:solidFill>
              <a:srgbClr val="FA58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7A4D"/>
                </a:solidFill>
                <a:latin typeface="Arial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Arial"/>
              </a:rPr>
              <a:t>A measurable, auditable agent Technical Sales can trust.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 i="0">
                <a:solidFill>
                  <a:srgbClr val="D7DAE0"/>
                </a:solidFill>
                <a:latin typeface="Arial"/>
              </a:rPr>
              <a:t>Answer only from approved evidence · cite the exact text · calculate confidence deterministically · escalate the gaps · turn SME answers into reusable knowledge.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