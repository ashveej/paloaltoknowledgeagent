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3200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58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E0410F"/>
                </a:solidFill>
                <a:latin typeface="Arial"/>
              </a:rPr>
              <a:t>TECHNICAL PM PANEL ·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A1D24"/>
                </a:solidFill>
                <a:latin typeface="Arial"/>
              </a:rPr>
              <a:t>Evidence-Governed Knowledge Agent</a:t>
            </a:r>
          </a:p>
          <a:p>
            <a:r>
              <a:rPr sz="4200" b="1" i="0">
                <a:solidFill>
                  <a:srgbClr val="1A1D24"/>
                </a:solidFill>
                <a:latin typeface="Arial"/>
              </a:rPr>
              <a:t>for Technical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33842"/>
                </a:solidFill>
                <a:latin typeface="Arial"/>
              </a:rPr>
              <a:t>An evidence-governed RAG product — not a chatbot. Every answer is grounded in approved sources, cites the exact text, and carries a </a:t>
            </a:r>
            <a:r>
              <a:rPr sz="1800" b="1" i="0">
                <a:solidFill>
                  <a:srgbClr val="1A1D24"/>
                </a:solidFill>
                <a:latin typeface="Arial"/>
              </a:rPr>
              <a:t>deterministically-calculated</a:t>
            </a:r>
            <a:r>
              <a:rPr sz="1800" b="0" i="0">
                <a:solidFill>
                  <a:srgbClr val="333842"/>
                </a:solidFill>
                <a:latin typeface="Arial"/>
              </a:rPr>
              <a:t> confidence score. Weak evidence routes to an SME, whose answer becomes reusable knowledge.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B7280"/>
                </a:solidFill>
                <a:latin typeface="Arial"/>
              </a:rPr>
              <a:t>Built spec-driven (Claude Code + Markdown specs) · FastAPI · LanceDB · Claude Opus 4.8 / Haiku 4.5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How I'll use the 60 minutes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103120"/>
          <a:ext cx="10424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6217920"/>
              </a:tblGrid>
              <a:tr h="3962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Section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What I'll cover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410F"/>
                          </a:solidFill>
                          <a:latin typeface="Arial"/>
                        </a:rPr>
                        <a:t>1 · Introduction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My background &amp; Technical-PM philosophy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410F"/>
                          </a:solidFill>
                          <a:latin typeface="Arial"/>
                        </a:rPr>
                        <a:t>2 · Context &amp; Problem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5 min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The task (RAG) and the core user pain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410F"/>
                          </a:solidFill>
                          <a:latin typeface="Arial"/>
                        </a:rPr>
                        <a:t>3 · Technical Deep Dive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Data strategy · system design &amp; trade-offs · human-in-the-loop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410F"/>
                          </a:solidFill>
                          <a:latin typeface="Arial"/>
                        </a:rPr>
                        <a:t>4 · Evaluation &amp; Results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10 min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Metrics tied to KPIs · hard truths · retrospective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410F"/>
                          </a:solidFill>
                          <a:latin typeface="Arial"/>
                        </a:rPr>
                        <a:t>5 ·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D24"/>
                          </a:solidFill>
                          <a:latin typeface="Arial"/>
                        </a:rPr>
                        <a:t>Your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0410F"/>
                </a:solidFill>
                <a:latin typeface="Arial"/>
              </a:rPr>
              <a:t>SECTION 1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788920"/>
            <a:ext cx="164592" cy="86868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A1D24"/>
                </a:solidFill>
                <a:latin typeface="Arial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86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6B7280"/>
                </a:solidFill>
                <a:latin typeface="Arial"/>
              </a:rPr>
              <a:t>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663440"/>
            <a:ext cx="9601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82803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A1D24"/>
                </a:solidFill>
                <a:latin typeface="Arial"/>
              </a:rPr>
              <a:t>Focus areas: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My background · my Technical-PM philosophy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My background &amp; Technical-PM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Staff Product Manager — 15+ years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in enterprise CRM transformation &amp; AI-enabled workflow automation (Walmart, DoorDash, Amplitude, Gusto, Akamai).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Applied AI track record: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a GenAI content platform with LLM orchestration; Salesforce Agentforce (intelligent routing, case deflection, AI summaries); predictive account scoring with Data Science.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0" i="0">
                <a:solidFill>
                  <a:srgbClr val="1A1D24"/>
                </a:solidFill>
                <a:latin typeface="Arial"/>
              </a:rPr>
              <a:t>This product is my world rebuilt on an LLM —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knowledge, routing, approvals, and scoring</a:t>
            </a:r>
            <a:r>
              <a:rPr sz="1400" b="0" i="0">
                <a:solidFill>
                  <a:srgbClr val="1A1D24"/>
                </a:solidFill>
                <a:latin typeface="Arial"/>
              </a:rPr>
              <a:t>, grounded and governed.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9659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My operating system as a Technical PM: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Tackle the scariest risk first.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I built the full trust loop (cited answer → confidence → escalation) before any polish — the real risk was trust, not “can AI answer.”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Let the AI write; let code decide.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The AI drafts the wording; rules decide what's cited and how confident we are — predictable and auditable.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Show your work.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Never just “Medium” — explain why, and show the exact source so the user can verify.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0410F"/>
                </a:solidFill>
                <a:latin typeface="Arial"/>
              </a:rPr>
              <a:t>SECTION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788920"/>
            <a:ext cx="164592" cy="86868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A1D24"/>
                </a:solidFill>
                <a:latin typeface="Arial"/>
              </a:rPr>
              <a:t>Context &amp;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86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6B7280"/>
                </a:solidFill>
                <a:latin typeface="Arial"/>
              </a:rPr>
              <a:t>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663440"/>
            <a:ext cx="9601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82803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A1D24"/>
                </a:solidFill>
                <a:latin typeface="Arial"/>
              </a:rPr>
              <a:t>Focus areas: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The task (RAG) · the core user pain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CONTEXT &amp;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The need, and the user pain it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The user:</a:t>
            </a:r>
            <a:r>
              <a:rPr sz="1500" b="0" i="0">
                <a:solidFill>
                  <a:srgbClr val="1A1D24"/>
                </a:solidFill>
                <a:latin typeface="Arial"/>
              </a:rPr>
              <a:t> Technical Sales team members who need answers about a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specific Palo Alto product</a:t>
            </a:r>
            <a:r>
              <a:rPr sz="1500" b="0" i="0">
                <a:solidFill>
                  <a:srgbClr val="1A1D24"/>
                </a:solidFill>
                <a:latin typeface="Arial"/>
              </a:rPr>
              <a:t>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The need:</a:t>
            </a:r>
            <a:r>
              <a:rPr sz="1500" b="0" i="0">
                <a:solidFill>
                  <a:srgbClr val="1A1D24"/>
                </a:solidFill>
                <a:latin typeface="Arial"/>
              </a:rPr>
              <a:t> a system where they can ask a product question and get a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trustworthy, sourced</a:t>
            </a:r>
            <a:r>
              <a:rPr sz="1500" b="0" i="0">
                <a:solidFill>
                  <a:srgbClr val="1A1D24"/>
                </a:solidFill>
                <a:latin typeface="Arial"/>
              </a:rPr>
              <a:t> answer.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The pain:</a:t>
            </a:r>
            <a:r>
              <a:rPr sz="1500" b="0" i="0">
                <a:solidFill>
                  <a:srgbClr val="1A1D24"/>
                </a:solidFill>
                <a:latin typeface="Arial"/>
              </a:rPr>
              <a:t> product truth is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scattered</a:t>
            </a:r>
            <a:r>
              <a:rPr sz="1500" b="0" i="0">
                <a:solidFill>
                  <a:srgbClr val="1A1D24"/>
                </a:solidFill>
                <a:latin typeface="Arial"/>
              </a:rPr>
              <a:t> across docs, release notes, and wikis — and it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goes stale</a:t>
            </a:r>
            <a:r>
              <a:rPr sz="1500" b="0" i="0">
                <a:solidFill>
                  <a:srgbClr val="1A1D24"/>
                </a:solidFill>
                <a:latin typeface="Arial"/>
              </a:rPr>
              <a:t>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500" b="0" i="0">
                <a:solidFill>
                  <a:srgbClr val="1A1D24"/>
                </a:solidFill>
                <a:latin typeface="Arial"/>
              </a:rPr>
              <a:t>Experts re-answer the same questions; that knowledge is never captured or reused.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0116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The task = Retrieval-Augmented Generation (RAG)</a:t>
            </a:r>
            <a:r>
              <a:rPr sz="1500" b="0" i="0">
                <a:solidFill>
                  <a:srgbClr val="1A1D24"/>
                </a:solidFill>
                <a:latin typeface="Arial"/>
              </a:rPr>
              <a:t>, with a human-in-the-loop.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500" b="0" i="0">
                <a:solidFill>
                  <a:srgbClr val="1A1D24"/>
                </a:solidFill>
                <a:latin typeface="Arial"/>
              </a:rPr>
              <a:t>RAG = retrieve approved documents first, then have the AI answer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only</a:t>
            </a:r>
            <a:r>
              <a:rPr sz="1500" b="0" i="0">
                <a:solidFill>
                  <a:srgbClr val="1A1D24"/>
                </a:solidFill>
                <a:latin typeface="Arial"/>
              </a:rPr>
              <a:t> from them, with citations.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500" b="0" i="0">
                <a:solidFill>
                  <a:srgbClr val="1A1D24"/>
                </a:solidFill>
                <a:latin typeface="Arial"/>
              </a:rPr>
              <a:t>Not a chatbot: a generic chatbot hallucinates with no proof — a liability for a security vendor.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500" b="0" i="1">
                <a:solidFill>
                  <a:srgbClr val="1A1D24"/>
                </a:solidFill>
                <a:latin typeface="Arial"/>
              </a:rPr>
              <a:t>Analogy: give the team the official binder and say 'only quote from this, cite the page.'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0410F"/>
                </a:solidFill>
                <a:latin typeface="Arial"/>
              </a:rPr>
              <a:t>SECTION 3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788920"/>
            <a:ext cx="164592" cy="86868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A1D24"/>
                </a:solidFill>
                <a:latin typeface="Arial"/>
              </a:rPr>
              <a:t>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86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6B7280"/>
                </a:solidFill>
                <a:latin typeface="Arial"/>
              </a:rPr>
              <a:t>15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663440"/>
            <a:ext cx="9601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82803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A1D24"/>
                </a:solidFill>
                <a:latin typeface="Arial"/>
              </a:rPr>
              <a:t>Focus areas: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Data Strategy · System Design &amp; Trade-offs · The Human in the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TECHNICAL DEEP DIVE ·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End-to-end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2070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6B7280"/>
                </a:solidFill>
                <a:latin typeface="Arial"/>
              </a:rPr>
              <a:t>1</a:t>
            </a:r>
          </a:p>
          <a:p>
            <a:pPr algn="ctr"/>
            <a:r>
              <a:rPr sz="1250" b="1" i="0">
                <a:solidFill>
                  <a:srgbClr val="1A1D24"/>
                </a:solidFill>
                <a:latin typeface="Arial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5688" y="25328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582D"/>
                </a:solidFill>
                <a:latin typeface="Arial"/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2240280"/>
            <a:ext cx="1207008" cy="105156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5328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582D"/>
                </a:solidFill>
                <a:latin typeface="Arial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41064" y="2240280"/>
            <a:ext cx="1207008" cy="1051560"/>
          </a:xfrm>
          <a:prstGeom prst="roundRect">
            <a:avLst/>
          </a:prstGeom>
          <a:solidFill>
            <a:srgbClr val="33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Find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8072" y="25328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582D"/>
                </a:solidFill>
                <a:latin typeface="Arial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77256" y="2240280"/>
            <a:ext cx="1207008" cy="105156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Draft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+ cite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25328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582D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3448" y="2240280"/>
            <a:ext cx="1207008" cy="1051560"/>
          </a:xfrm>
          <a:prstGeom prst="roundRect">
            <a:avLst/>
          </a:prstGeom>
          <a:solidFill>
            <a:srgbClr val="33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Check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&amp;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5328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582D"/>
                </a:solidFill>
                <a:latin typeface="Arial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240280"/>
            <a:ext cx="1207008" cy="105156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Polish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6648" y="25328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582D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85832" y="2240280"/>
            <a:ext cx="12070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6B7280"/>
                </a:solidFill>
                <a:latin typeface="Arial"/>
              </a:rPr>
              <a:t>7</a:t>
            </a:r>
          </a:p>
          <a:p>
            <a:pPr algn="ctr"/>
            <a:r>
              <a:rPr sz="1250" b="1" i="0">
                <a:solidFill>
                  <a:srgbClr val="1A1D24"/>
                </a:solidFill>
                <a:latin typeface="Arial"/>
              </a:rPr>
              <a:t>Answer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627632"/>
            <a:ext cx="201168" cy="201168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Arial"/>
              </a:rPr>
              <a:t>AI 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27632"/>
            <a:ext cx="201168" cy="201168"/>
          </a:xfrm>
          <a:prstGeom prst="roundRect">
            <a:avLst/>
          </a:prstGeom>
          <a:solidFill>
            <a:srgbClr val="33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Arial"/>
              </a:rPr>
              <a:t>Deterministic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3273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D6312B"/>
                </a:solidFill>
                <a:latin typeface="Arial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3657600"/>
            <a:ext cx="9235440" cy="713232"/>
          </a:xfrm>
          <a:prstGeom prst="roundRect">
            <a:avLst/>
          </a:prstGeom>
          <a:solidFill>
            <a:srgbClr val="FBE9E8"/>
          </a:solidFill>
          <a:ln w="12700">
            <a:solidFill>
              <a:srgbClr val="D6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3721608"/>
            <a:ext cx="877824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D24"/>
                </a:solidFill>
                <a:latin typeface="Arial"/>
              </a:rPr>
              <a:t>Can't prove it?  →  route to the right </a:t>
            </a:r>
            <a:r>
              <a:rPr sz="1300" b="1" i="0">
                <a:solidFill>
                  <a:srgbClr val="1A1D24"/>
                </a:solidFill>
                <a:latin typeface="Arial"/>
              </a:rPr>
              <a:t>SME</a:t>
            </a:r>
            <a:r>
              <a:rPr sz="1300" b="0" i="0">
                <a:solidFill>
                  <a:srgbClr val="1A1D24"/>
                </a:solidFill>
                <a:latin typeface="Arial"/>
              </a:rPr>
              <a:t>  →  SME answers  →  </a:t>
            </a:r>
            <a:r>
              <a:rPr sz="1300" b="1" i="0">
                <a:solidFill>
                  <a:srgbClr val="1A1D24"/>
                </a:solidFill>
                <a:latin typeface="Arial"/>
              </a:rPr>
              <a:t>published as an approved source</a:t>
            </a:r>
            <a:r>
              <a:rPr sz="1300" b="0" i="0">
                <a:solidFill>
                  <a:srgbClr val="1A1D24"/>
                </a:solidFill>
                <a:latin typeface="Arial"/>
              </a:rPr>
              <a:t> (reusable next time)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40680"/>
            <a:ext cx="10424160" cy="868680"/>
          </a:xfrm>
          <a:prstGeom prst="roundRect">
            <a:avLst/>
          </a:prstGeom>
          <a:solidFill>
            <a:srgbClr val="FBF0DC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532120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1A1D24"/>
                </a:solidFill>
                <a:latin typeface="Arial"/>
              </a:rPr>
              <a:t>The key idea:</a:t>
            </a:r>
            <a:r>
              <a:rPr sz="1350" b="0" i="0">
                <a:solidFill>
                  <a:srgbClr val="1A1D24"/>
                </a:solidFill>
                <a:latin typeface="Arial"/>
              </a:rPr>
              <a:t> the </a:t>
            </a:r>
            <a:r>
              <a:rPr sz="1350" b="1" i="0">
                <a:solidFill>
                  <a:srgbClr val="1A1D24"/>
                </a:solidFill>
                <a:latin typeface="Arial"/>
              </a:rPr>
              <a:t>AI</a:t>
            </a:r>
            <a:r>
              <a:rPr sz="1350" b="0" i="0">
                <a:solidFill>
                  <a:srgbClr val="1A1D24"/>
                </a:solidFill>
                <a:latin typeface="Arial"/>
              </a:rPr>
              <a:t> (orange) only handles language — classify, draft, polish. Every </a:t>
            </a:r>
            <a:r>
              <a:rPr sz="1350" b="1" i="0">
                <a:solidFill>
                  <a:srgbClr val="1A1D24"/>
                </a:solidFill>
                <a:latin typeface="Arial"/>
              </a:rPr>
              <a:t>trust</a:t>
            </a:r>
            <a:r>
              <a:rPr sz="1350" b="0" i="0">
                <a:solidFill>
                  <a:srgbClr val="1A1D24"/>
                </a:solidFill>
                <a:latin typeface="Arial"/>
              </a:rPr>
              <a:t> decision — check citations &amp; calculate confidence (slate) — is auditable code. That's why it's a governed system, not a chatbot.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TECHNICAL DEEP DIVE · DATA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Data: acquisition, synthesis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Acquisition — three sources, on purpose: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Real docs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— crawled docs.paloaltonetworks.com (Prisma Access, Cortex XDR, NGFW). ~17 pages, 68 passages.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PDFs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— ingested via pypdf + metadata sidecar.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Synthetic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— hand-generated stale + deprecated edge cases (can't test a freshness rule without a stale doc).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Quality &amp; alignment: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0" i="0">
                <a:solidFill>
                  <a:srgbClr val="1A1D24"/>
                </a:solidFill>
                <a:latin typeface="Arial"/>
              </a:rPr>
              <a:t>Every passage carries product, version, source type, owner,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review date</a:t>
            </a:r>
            <a:r>
              <a:rPr sz="1400" b="0" i="0">
                <a:solidFill>
                  <a:srgbClr val="1A1D24"/>
                </a:solidFill>
                <a:latin typeface="Arial"/>
              </a:rPr>
              <a:t>,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deprecated flag</a:t>
            </a:r>
            <a:r>
              <a:rPr sz="1400" b="0" i="0">
                <a:solidFill>
                  <a:srgbClr val="1A1D24"/>
                </a:solidFill>
                <a:latin typeface="Arial"/>
              </a:rPr>
              <a:t>, approval status, votes.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0" i="0">
                <a:solidFill>
                  <a:srgbClr val="1A1D24"/>
                </a:solidFill>
                <a:latin typeface="Arial"/>
              </a:rPr>
              <a:t>Metadata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drives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retrieval, scoring, and routing — deprecated never surfaces.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Honest gap: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the Cortex portal is JS-rendered → couldn't crawl it → I named the gap, not faked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TECHNICAL DEEP DIVE · SYSTEM DESIGN &amp; TRADE-OFFS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Why these choices (build vs buy, latency vs accuracy)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828800"/>
          <a:ext cx="1042416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2377440"/>
                <a:gridCol w="4023360"/>
              </a:tblGrid>
              <a:tr h="39449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Chose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Over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0410F"/>
                          </a:solidFill>
                          <a:latin typeface="Arial"/>
                        </a:rPr>
                        <a:t>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Deterministic rubric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LLM-judged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Auditable; can't be gamed by fluency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0410F"/>
                          </a:solidFill>
                          <a:latin typeface="Arial"/>
                        </a:rPr>
                        <a:t>Grounding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Hard code gates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Prompt 'please cite'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A gate guarantees; a prompt hopes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0410F"/>
                          </a:solidFill>
                          <a:latin typeface="Arial"/>
                        </a:rPr>
                        <a:t>Vector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LanceDB (embedded)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Pinecone / pgvector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Build vs buy: zero infra for the 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0410F"/>
                          </a:solidFill>
                          <a:latin typeface="Arial"/>
                        </a:rPr>
                        <a:t>Facts model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Opus 4.8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Haiku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Accuracy where hallucination hurts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0410F"/>
                          </a:solidFill>
                          <a:latin typeface="Arial"/>
                        </a:rPr>
                        <a:t>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Haiku 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Opus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Latency / cost on a routing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5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0410F"/>
                          </a:solidFill>
                          <a:latin typeface="Arial"/>
                        </a:rPr>
                        <a:t>Embeddings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Local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Voyage / OpenAI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D24"/>
                          </a:solidFill>
                          <a:latin typeface="Arial"/>
                        </a:rPr>
                        <a:t>Free/offline MVP; one-line swap at scale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TECHNICAL DEEP DIVE · THE HUMAN IN THE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The interface between AI logic &amp; the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For the Sales Engineer: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Attribution UI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— the exact cited source text is shown inline; verify without leaving the screen.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Explainable confidence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— a pill + score breakdown + the cap reason.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Brand voice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— sounds consultative, but the Facts↔Style wall keeps facts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For the expert (SME):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Escalate → route → email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the right SME group automatically.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Approve &amp; Publish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→ the answer becomes citable for everyone (the knowledge flywheel).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'This answer is wrong'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→ lowers source reputation + opens a ticket (feedback → ranking, not retraining).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0410F"/>
                </a:solidFill>
                <a:latin typeface="Arial"/>
              </a:rPr>
              <a:t>SECTION 4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788920"/>
            <a:ext cx="164592" cy="86868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A1D24"/>
                </a:solidFill>
                <a:latin typeface="Arial"/>
              </a:rPr>
              <a:t>Evaluation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86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6B7280"/>
                </a:solidFill>
                <a:latin typeface="Arial"/>
              </a:rPr>
              <a:t>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663440"/>
            <a:ext cx="9601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82803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A1D24"/>
                </a:solidFill>
                <a:latin typeface="Arial"/>
              </a:rPr>
              <a:t>Focus areas: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Evaluation &amp; Success (metrics tied to KPIs) · hard truths · Retrospective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EVALUATION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How I measured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A1D24"/>
                </a:solidFill>
                <a:latin typeface="Arial"/>
              </a:rPr>
              <a:t>I set quality bars a salesperson can rely on — then validated with real questions: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21408"/>
            <a:ext cx="3383280" cy="914400"/>
          </a:xfrm>
          <a:prstGeom prst="roundRect">
            <a:avLst/>
          </a:prstGeom>
          <a:solidFill>
            <a:srgbClr val="E7F4EC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E3E"/>
                </a:solidFill>
                <a:latin typeface="Arial"/>
              </a:rPr>
              <a:t>100%</a:t>
            </a:r>
          </a:p>
          <a:p>
            <a:pPr algn="ctr"/>
            <a:r>
              <a:rPr sz="1200" b="0" i="0">
                <a:solidFill>
                  <a:srgbClr val="1A1D24"/>
                </a:solidFill>
                <a:latin typeface="Arial"/>
              </a:rPr>
              <a:t>every answer shows its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121408"/>
            <a:ext cx="3383280" cy="914400"/>
          </a:xfrm>
          <a:prstGeom prst="roundRect">
            <a:avLst/>
          </a:prstGeom>
          <a:solidFill>
            <a:srgbClr val="E7F4EC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221284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E3E"/>
                </a:solidFill>
                <a:latin typeface="Arial"/>
              </a:rPr>
              <a:t>0%</a:t>
            </a:r>
          </a:p>
          <a:p>
            <a:pPr algn="ctr"/>
            <a:r>
              <a:rPr sz="1200" b="0" i="0">
                <a:solidFill>
                  <a:srgbClr val="1A1D24"/>
                </a:solidFill>
                <a:latin typeface="Arial"/>
              </a:rPr>
              <a:t>from outdated / retired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4424" y="2121408"/>
            <a:ext cx="3383280" cy="914400"/>
          </a:xfrm>
          <a:prstGeom prst="roundRect">
            <a:avLst/>
          </a:prstGeom>
          <a:solidFill>
            <a:srgbClr val="E7F4EC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64424" y="221284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E3E"/>
                </a:solidFill>
                <a:latin typeface="Arial"/>
              </a:rPr>
              <a:t>0%</a:t>
            </a:r>
          </a:p>
          <a:p>
            <a:pPr algn="ctr"/>
            <a:r>
              <a:rPr sz="1200" b="0" i="0">
                <a:solidFill>
                  <a:srgbClr val="1A1D24"/>
                </a:solidFill>
                <a:latin typeface="Arial"/>
              </a:rPr>
              <a:t>shaky answers shown as solid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D24"/>
                </a:solidFill>
                <a:latin typeface="Arial"/>
              </a:rPr>
              <a:t>Validated with 15 real questions — 5 easy · 5 medium · 5 hard. A few examples: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68680" y="3657600"/>
          <a:ext cx="104241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1463040"/>
                <a:gridCol w="3108960"/>
              </a:tblGrid>
              <a:tr h="38862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Sample question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Difficulty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D24"/>
                          </a:solidFill>
                          <a:latin typeface="Arial"/>
                        </a:rPr>
                        <a:t>“What is the max number of BGP IP addresses per remote network?”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D24"/>
                          </a:solidFill>
                          <a:latin typeface="Arial"/>
                        </a:rPr>
                        <a:t>Easy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8E3E"/>
                          </a:solidFill>
                          <a:latin typeface="Arial"/>
                        </a:rPr>
                        <a:t>High · answered + cited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D24"/>
                          </a:solidFill>
                          <a:latin typeface="Arial"/>
                        </a:rPr>
                        <a:t>“What are the decryption types on the NGFW?”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D2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C77700"/>
                          </a:solidFill>
                          <a:latin typeface="Arial"/>
                        </a:rPr>
                        <a:t>Medium · source is 241 days old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D24"/>
                          </a:solidFill>
                          <a:latin typeface="Arial"/>
                        </a:rPr>
                        <a:t>“What is the per-user price of Prisma Access?”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D24"/>
                          </a:solidFill>
                          <a:latin typeface="Arial"/>
                        </a:rPr>
                        <a:t>Hard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D6312B"/>
                          </a:solidFill>
                          <a:latin typeface="Arial"/>
                        </a:rPr>
                        <a:t>Escalated to an SME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68680" y="5394960"/>
            <a:ext cx="10424160" cy="841248"/>
          </a:xfrm>
          <a:prstGeom prst="roundRect">
            <a:avLst/>
          </a:prstGeom>
          <a:solidFill>
            <a:srgbClr val="E7F4EC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477256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A1D24"/>
                </a:solidFill>
                <a:latin typeface="Arial"/>
              </a:rPr>
              <a:t>15 / 15 correct behavior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— it answered what it could prove, and asked a human for the rest. It never bluffed.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EVALUATION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What I learned — the hard truths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600" b="1" i="0">
                <a:solidFill>
                  <a:srgbClr val="1A1D24"/>
                </a:solidFill>
                <a:latin typeface="Arial"/>
              </a:rPr>
              <a:t>Don't trust the AI's own confidence.</a:t>
            </a:r>
            <a:r>
              <a:rPr sz="1600" b="0" i="0">
                <a:solidFill>
                  <a:srgbClr val="1A1D24"/>
                </a:solidFill>
                <a:latin typeface="Arial"/>
              </a:rPr>
              <a:t> Models sound certain even when wrong — so I have the system *calculate* confidence with rules, not ask the model.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600" b="1" i="0">
                <a:solidFill>
                  <a:srgbClr val="1A1D24"/>
                </a:solidFill>
                <a:latin typeface="Arial"/>
              </a:rPr>
              <a:t>Being too careful is also a failure.</a:t>
            </a:r>
            <a:r>
              <a:rPr sz="1600" b="0" i="0">
                <a:solidFill>
                  <a:srgbClr val="1A1D24"/>
                </a:solidFill>
                <a:latin typeface="Arial"/>
              </a:rPr>
              <a:t> Early on it sent answerable questions to a human. I tuned it to answer when it has proof — trust means answering when you can back it up, not just refusing.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600" b="1" i="0">
                <a:solidFill>
                  <a:srgbClr val="1A1D24"/>
                </a:solidFill>
                <a:latin typeface="Arial"/>
              </a:rPr>
              <a:t>Small rules need real-world testing.</a:t>
            </a:r>
            <a:r>
              <a:rPr sz="1600" b="0" i="0">
                <a:solidFill>
                  <a:srgbClr val="1A1D24"/>
                </a:solidFill>
                <a:latin typeface="Arial"/>
              </a:rPr>
              <a:t> A single “thumbs-down” could unfairly bury a good document. I only caught that by testing with real questions — and fixed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EVALUATION &amp; RESULTS · RETROSPECTIVE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D24"/>
                </a:solidFill>
                <a:latin typeface="Arial"/>
              </a:rPr>
              <a:t>If I rebuilt it on today's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Would add / change: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SME source certification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— experts verify &amp; certify documents *before* they enter the agent, so every answer is built on accuracy-certified sources.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Agentic retrieval</a:t>
            </a:r>
            <a:r>
              <a:rPr sz="1400" b="0" i="0">
                <a:solidFill>
                  <a:srgbClr val="1A1D24"/>
                </a:solidFill>
                <a:latin typeface="Arial"/>
              </a:rPr>
              <a:t> — critique the evidence and re-search before answering; a tool-using agent for live lookups before escalating.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0" i="0">
                <a:solidFill>
                  <a:srgbClr val="1A1D24"/>
                </a:solidFill>
                <a:latin typeface="Arial"/>
              </a:rPr>
              <a:t>Hosted embeddings + hybrid search + a feedback-tuned reranker; real Confluence/Jira connectors.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9659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1" i="0">
                <a:solidFill>
                  <a:srgbClr val="1A1D24"/>
                </a:solidFill>
                <a:latin typeface="Arial"/>
              </a:rPr>
              <a:t>Would NOT change — the spine: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0" i="0">
                <a:solidFill>
                  <a:srgbClr val="1A1D24"/>
                </a:solidFill>
                <a:latin typeface="Arial"/>
              </a:rPr>
              <a:t>Deterministic confidence.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0" i="0">
                <a:solidFill>
                  <a:srgbClr val="1A1D24"/>
                </a:solidFill>
                <a:latin typeface="Arial"/>
              </a:rPr>
              <a:t>Hard citation gates.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0" i="0">
                <a:solidFill>
                  <a:srgbClr val="1A1D24"/>
                </a:solidFill>
                <a:latin typeface="Arial"/>
              </a:rPr>
              <a:t>The Facts ↔ Style wall.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FA582D"/>
                </a:solidFill>
                <a:latin typeface="Arial"/>
              </a:rPr>
              <a:t>●  </a:t>
            </a:r>
            <a:r>
              <a:rPr sz="1400" b="0" i="1">
                <a:solidFill>
                  <a:srgbClr val="1A1D24"/>
                </a:solidFill>
                <a:latin typeface="Arial"/>
              </a:rPr>
              <a:t>These earned the trust; everything else is an optimization.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2468880"/>
            <a:ext cx="164592" cy="9144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A1D24"/>
                </a:solidFill>
                <a:latin typeface="Arial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33842"/>
                </a:solidFill>
                <a:latin typeface="Arial"/>
              </a:rPr>
              <a:t>Happy to go deeper on the architecture, the data strategy, the confidence rubric, the trade-offs, or the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B7280"/>
                </a:solidFill>
                <a:latin typeface="Arial"/>
              </a:rPr>
              <a:t>Live demo available · repo + specs in the README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Arial"/>
              </a:rPr>
              <a:t>paloalto  ·  Knowledge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