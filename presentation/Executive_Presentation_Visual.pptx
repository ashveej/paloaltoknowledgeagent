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Sources</c:v>
                </c:pt>
              </c:strCache>
            </c:strRef>
          </c:tx>
          <c:dPt>
            <c:idx val="0"/>
            <c:spPr>
              <a:solidFill>
                <a:srgbClr val="FA582D"/>
              </a:solidFill>
            </c:spPr>
          </c:dPt>
          <c:dPt>
            <c:idx val="1"/>
            <c:spPr>
              <a:solidFill>
                <a:srgbClr val="2B6CB0"/>
              </a:solidFill>
            </c:spPr>
          </c:dPt>
          <c:dPt>
            <c:idx val="2"/>
            <c:spPr>
              <a:solidFill>
                <a:srgbClr val="7C3AED"/>
              </a:solidFill>
            </c:spPr>
          </c:dPt>
          <c:cat>
            <c:strRef>
              <c:f>Sheet1!$A$2:$A$4</c:f>
              <c:strCache>
                <c:ptCount val="3"/>
                <c:pt idx="0">
                  <c:v>Prisma Access (8)</c:v>
                </c:pt>
                <c:pt idx="1">
                  <c:v>NGFW (6)</c:v>
                </c:pt>
                <c:pt idx="2">
                  <c:v>Cortex XDR (4)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6</c:v>
                </c:pt>
                <c:pt idx="2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3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2377440" cy="457200"/>
          </a:xfrm>
          <a:prstGeom prst="roundRect">
            <a:avLst/>
          </a:prstGeom>
          <a:solidFill>
            <a:srgbClr val="FBE9E8"/>
          </a:solidFill>
          <a:ln w="12700">
            <a:solidFill>
              <a:srgbClr val="D6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E0410F"/>
                </a:solidFill>
                <a:latin typeface="Arial"/>
              </a:rP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1A1D24"/>
                </a:solidFill>
                <a:latin typeface="Arial"/>
              </a:rPr>
              <a:t>Knowledge that Sales</a:t>
            </a:r>
          </a:p>
          <a:p>
            <a:r>
              <a:rPr sz="4600" b="1" i="0">
                <a:solidFill>
                  <a:srgbClr val="1A1D24"/>
                </a:solidFill>
                <a:latin typeface="Arial"/>
              </a:rPr>
              <a:t>can actually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33842"/>
                </a:solidFill>
                <a:latin typeface="Arial"/>
              </a:rPr>
              <a:t>An AI assistant for our sales teams that answers product questions </a:t>
            </a:r>
            <a:r>
              <a:rPr sz="1900" b="1" i="0">
                <a:solidFill>
                  <a:srgbClr val="1A1D24"/>
                </a:solidFill>
                <a:latin typeface="Arial"/>
              </a:rPr>
              <a:t>only from approved company sources</a:t>
            </a:r>
            <a:r>
              <a:rPr sz="1900" b="0" i="0">
                <a:solidFill>
                  <a:srgbClr val="333842"/>
                </a:solidFill>
                <a:latin typeface="Arial"/>
              </a:rPr>
              <a:t> — and always shows its work and how sure it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B7280"/>
                </a:solidFill>
                <a:latin typeface="Arial"/>
              </a:rPr>
              <a:t>Everything in this deck is backed by the working system and real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D24"/>
                </a:solidFill>
                <a:latin typeface="Arial"/>
              </a:rPr>
              <a:t>Sales teams get hard questions — live, on the spot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3383280" cy="246888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solidFill>
                  <a:srgbClr val="1A1D24"/>
                </a:solidFill>
                <a:latin typeface="Arial"/>
              </a:rPr>
              <a:t>⏱️</a:t>
            </a:r>
          </a:p>
          <a:p>
            <a:pPr>
              <a:spcBef>
                <a:spcPts val="400"/>
              </a:spcBef>
            </a:pPr>
            <a:r>
              <a:rPr sz="1700" b="1" i="0">
                <a:solidFill>
                  <a:srgbClr val="1A1D24"/>
                </a:solidFill>
                <a:latin typeface="Arial"/>
              </a:rPr>
              <a:t>Questions come fast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6B7280"/>
                </a:solidFill>
                <a:latin typeface="Arial"/>
              </a:rPr>
              <a:t>“Does our product support X in version Y?” — mid-call with a customer.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2194560"/>
            <a:ext cx="3383280" cy="246888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24231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solidFill>
                  <a:srgbClr val="1A1D24"/>
                </a:solidFill>
                <a:latin typeface="Arial"/>
              </a:rPr>
              <a:t>🗂️</a:t>
            </a:r>
          </a:p>
          <a:p>
            <a:pPr>
              <a:spcBef>
                <a:spcPts val="400"/>
              </a:spcBef>
            </a:pPr>
            <a:r>
              <a:rPr sz="1700" b="1" i="0">
                <a:solidFill>
                  <a:srgbClr val="1A1D24"/>
                </a:solidFill>
                <a:latin typeface="Arial"/>
              </a:rPr>
              <a:t>Scattered &amp; goes stale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6B7280"/>
                </a:solidFill>
                <a:latin typeface="Arial"/>
              </a:rPr>
              <a:t>Spread across manuals, release notes, and wikis — across products and versions. It 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1856" y="2194560"/>
            <a:ext cx="3383280" cy="246888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24231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solidFill>
                  <a:srgbClr val="1A1D24"/>
                </a:solidFill>
                <a:latin typeface="Arial"/>
              </a:rPr>
              <a:t>📉</a:t>
            </a:r>
          </a:p>
          <a:p>
            <a:pPr>
              <a:spcBef>
                <a:spcPts val="400"/>
              </a:spcBef>
            </a:pPr>
            <a:r>
              <a:rPr sz="1700" b="1" i="0">
                <a:solidFill>
                  <a:srgbClr val="1A1D24"/>
                </a:solidFill>
                <a:latin typeface="Arial"/>
              </a:rPr>
              <a:t>A wrong answer costs the deal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6B7280"/>
                </a:solidFill>
                <a:latin typeface="Arial"/>
              </a:rPr>
              <a:t>Confidently saying the wrong thing loses technical credibility — hard to win 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333842"/>
                </a:solidFill>
                <a:latin typeface="Arial"/>
              </a:rPr>
              <a:t>A generic chatbot makes this worse — it sounds confident even when guessing, with no proof.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THE IDEA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D24"/>
                </a:solidFill>
                <a:latin typeface="Arial"/>
              </a:rPr>
              <a:t>An expert assistant that never guesses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A1D24"/>
                </a:solidFill>
                <a:latin typeface="Arial"/>
              </a:rPr>
              <a:t>Think of it as a diligent research assistant who:</a:t>
            </a:r>
          </a:p>
          <a:p>
            <a:pPr>
              <a:spcBef>
                <a:spcPts val="1000"/>
              </a:spcBef>
            </a:pPr>
            <a:r>
              <a:rPr sz="1600" b="0" i="0">
                <a:solidFill>
                  <a:srgbClr val="333842"/>
                </a:solidFill>
                <a:latin typeface="Arial"/>
              </a:rPr>
              <a:t>📗  only quotes approved company sources</a:t>
            </a:r>
          </a:p>
          <a:p>
            <a:pPr>
              <a:spcBef>
                <a:spcPts val="1000"/>
              </a:spcBef>
            </a:pPr>
            <a:r>
              <a:rPr sz="1600" b="0" i="0">
                <a:solidFill>
                  <a:srgbClr val="333842"/>
                </a:solidFill>
                <a:latin typeface="Arial"/>
              </a:rPr>
              <a:t>🧾  shows the exact quote behind every answer</a:t>
            </a:r>
          </a:p>
          <a:p>
            <a:pPr>
              <a:spcBef>
                <a:spcPts val="1000"/>
              </a:spcBef>
            </a:pPr>
            <a:r>
              <a:rPr sz="1600" b="0" i="0">
                <a:solidFill>
                  <a:srgbClr val="333842"/>
                </a:solidFill>
                <a:latin typeface="Arial"/>
              </a:rPr>
              <a:t>🎯  tells you how confident it is — and why</a:t>
            </a:r>
          </a:p>
          <a:p>
            <a:pPr>
              <a:spcBef>
                <a:spcPts val="1000"/>
              </a:spcBef>
            </a:pPr>
            <a:r>
              <a:rPr sz="1600" b="0" i="0">
                <a:solidFill>
                  <a:srgbClr val="333842"/>
                </a:solidFill>
                <a:latin typeface="Arial"/>
              </a:rPr>
              <a:t>🙋  asks a human expert when it isn't 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2194560"/>
            <a:ext cx="3657600" cy="27432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743200"/>
            <a:ext cx="329184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 i="0">
                <a:solidFill>
                  <a:srgbClr val="1A1D24"/>
                </a:solidFill>
                <a:latin typeface="Arial"/>
              </a:rPr>
              <a:t>🛡️</a:t>
            </a:r>
          </a:p>
          <a:p>
            <a:pPr algn="ctr"/>
            <a:r>
              <a:rPr sz="2200" b="1" i="0">
                <a:solidFill>
                  <a:srgbClr val="1A1D24"/>
                </a:solidFill>
                <a:latin typeface="Arial"/>
              </a:rPr>
              <a:t>“No proof, no answer.”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Arial"/>
              </a:rPr>
              <a:t>The one rule the whole system is built around.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D24"/>
                </a:solidFill>
                <a:latin typeface="Arial"/>
              </a:rPr>
              <a:t>From question to trusted answer — in five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1971446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59152"/>
            <a:ext cx="175199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D24"/>
                </a:solidFill>
                <a:latin typeface="Arial"/>
              </a:rPr>
              <a:t>🧭</a:t>
            </a:r>
          </a:p>
          <a:p>
            <a:pPr algn="ctr"/>
            <a:r>
              <a:rPr sz="1300" b="1" i="0">
                <a:solidFill>
                  <a:srgbClr val="1A1D24"/>
                </a:solidFill>
                <a:latin typeface="Arial"/>
              </a:rPr>
              <a:t>1 · Understand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Arial"/>
              </a:rPr>
              <a:t>Which product &amp; topic?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8998" y="2194560"/>
            <a:ext cx="1971446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8726" y="2359152"/>
            <a:ext cx="175199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D24"/>
                </a:solidFill>
                <a:latin typeface="Arial"/>
              </a:rPr>
              <a:t>📚</a:t>
            </a:r>
          </a:p>
          <a:p>
            <a:pPr algn="ctr"/>
            <a:r>
              <a:rPr sz="1300" b="1" i="0">
                <a:solidFill>
                  <a:srgbClr val="1A1D24"/>
                </a:solidFill>
                <a:latin typeface="Arial"/>
              </a:rPr>
              <a:t>2 · Find sources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Arial"/>
              </a:rPr>
              <a:t>Only approved, current docs.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5036" y="2194560"/>
            <a:ext cx="1971446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04764" y="2359152"/>
            <a:ext cx="175199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D24"/>
                </a:solidFill>
                <a:latin typeface="Arial"/>
              </a:rPr>
              <a:t>✍️</a:t>
            </a:r>
          </a:p>
          <a:p>
            <a:pPr algn="ctr"/>
            <a:r>
              <a:rPr sz="1300" b="1" i="0">
                <a:solidFill>
                  <a:srgbClr val="1A1D24"/>
                </a:solidFill>
                <a:latin typeface="Arial"/>
              </a:rPr>
              <a:t>3 · Draft w/ quotes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Arial"/>
              </a:rPr>
              <a:t>Only what sources say.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1075" y="2194560"/>
            <a:ext cx="1971446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40803" y="2359152"/>
            <a:ext cx="175199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D24"/>
                </a:solidFill>
                <a:latin typeface="Arial"/>
              </a:rPr>
              <a:t>✅</a:t>
            </a:r>
          </a:p>
          <a:p>
            <a:pPr algn="ctr"/>
            <a:r>
              <a:rPr sz="1300" b="1" i="0">
                <a:solidFill>
                  <a:srgbClr val="1A1D24"/>
                </a:solidFill>
                <a:latin typeface="Arial"/>
              </a:rPr>
              <a:t>4 · Check &amp; score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Arial"/>
              </a:rPr>
              <a:t>Every claim cited; score confidence.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67113" y="2194560"/>
            <a:ext cx="1971446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76841" y="2359152"/>
            <a:ext cx="175199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D24"/>
                </a:solidFill>
                <a:latin typeface="Arial"/>
              </a:rPr>
              <a:t>✨</a:t>
            </a:r>
          </a:p>
          <a:p>
            <a:pPr algn="ctr"/>
            <a:r>
              <a:rPr sz="1300" b="1" i="0">
                <a:solidFill>
                  <a:srgbClr val="1A1D24"/>
                </a:solidFill>
                <a:latin typeface="Arial"/>
              </a:rPr>
              <a:t>5 · Polish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Arial"/>
              </a:rPr>
              <a:t>Sounds great — facts unchanged.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06240"/>
            <a:ext cx="10515600" cy="868680"/>
          </a:xfrm>
          <a:prstGeom prst="roundRect">
            <a:avLst/>
          </a:prstGeom>
          <a:solidFill>
            <a:srgbClr val="FBE9E8"/>
          </a:solidFill>
          <a:ln w="12700">
            <a:solidFill>
              <a:srgbClr val="D6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15968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1A1D24"/>
                </a:solidFill>
                <a:latin typeface="Arial"/>
              </a:rPr>
              <a:t>🙋  </a:t>
            </a:r>
            <a:r>
              <a:rPr sz="1350" b="1" i="0">
                <a:solidFill>
                  <a:srgbClr val="1A1D24"/>
                </a:solidFill>
                <a:latin typeface="Arial"/>
              </a:rPr>
              <a:t>Not enough proof at step 4?</a:t>
            </a:r>
            <a:r>
              <a:rPr sz="1350" b="0" i="0">
                <a:solidFill>
                  <a:srgbClr val="1A1D24"/>
                </a:solidFill>
                <a:latin typeface="Arial"/>
              </a:rPr>
              <a:t>  The answer is blocked and sent to the right human expert instead. The system never bluffs.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IT ALWAYS SHOWS ITS WORK · REAL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D24"/>
                </a:solidFill>
                <a:latin typeface="Arial"/>
              </a:rPr>
              <a:t>Every answer comes with the receipt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10515600" cy="64008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1284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A1D24"/>
                </a:solidFill>
                <a:latin typeface="Arial"/>
              </a:rPr>
              <a:t>❓  “What's the maximum number of BGP IP addresses per remote network?”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2468880" cy="457200"/>
          </a:xfrm>
          <a:prstGeom prst="roundRect">
            <a:avLst/>
          </a:prstGeom>
          <a:solidFill>
            <a:srgbClr val="E7F4EC"/>
          </a:solidFill>
          <a:ln w="127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E8E3E"/>
                </a:solidFill>
                <a:latin typeface="Arial"/>
              </a:rPr>
              <a:t>● High confidence · 97/100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A1D24"/>
                </a:solidFill>
                <a:latin typeface="Arial"/>
              </a:rPr>
              <a:t>Prisma Access supports a maximum of 250</a:t>
            </a:r>
            <a:r>
              <a:rPr sz="1600" b="0" i="0">
                <a:solidFill>
                  <a:srgbClr val="1A1D24"/>
                </a:solidFill>
                <a:latin typeface="Arial"/>
              </a:rPr>
              <a:t> local BGP IP addresses per remote network — 250 with a primary tunnel only, 125 with 2 links, or 62 with 4 links.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26280"/>
            <a:ext cx="10424160" cy="1371600"/>
          </a:xfrm>
          <a:prstGeom prst="roundRect">
            <a:avLst/>
          </a:prstGeom>
          <a:solidFill>
            <a:srgbClr val="F6F7F9"/>
          </a:solidFill>
          <a:ln w="19050">
            <a:solidFill>
              <a:srgbClr val="FA58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663440"/>
            <a:ext cx="10058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6B7280"/>
                </a:solidFill>
                <a:latin typeface="Arial"/>
              </a:rPr>
              <a:t>📗 SOURCE: Prisma Access — “Onboard a Remote Network”</a:t>
            </a:r>
          </a:p>
          <a:p>
            <a:r>
              <a:rPr sz="1350" b="0" i="0">
                <a:solidFill>
                  <a:srgbClr val="262B34"/>
                </a:solidFill>
                <a:latin typeface="Arial"/>
              </a:rPr>
              <a:t>“A maximum of 250 local BGP IP addresses is supported per remote network. This translates to 250 remote networks with a primary tunnel only…”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IT TELLS YOU HOW SURE IT 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D24"/>
                </a:solidFill>
                <a:latin typeface="Arial"/>
              </a:rPr>
              <a:t>Three confidence levels — calculated, not guessed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3383280" cy="1737360"/>
          </a:xfrm>
          <a:prstGeom prst="roundRect">
            <a:avLst/>
          </a:prstGeom>
          <a:solidFill>
            <a:srgbClr val="E7F4EC"/>
          </a:solidFill>
          <a:ln w="127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E8E3E"/>
                </a:solidFill>
                <a:latin typeface="Arial"/>
              </a:rPr>
              <a:t>● High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1A1D24"/>
                </a:solidFill>
                <a:latin typeface="Arial"/>
              </a:rPr>
              <a:t>Current, official sources fully back it. Use with 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383280" cy="1737360"/>
          </a:xfrm>
          <a:prstGeom prst="roundRect">
            <a:avLst/>
          </a:prstGeom>
          <a:solidFill>
            <a:srgbClr val="FBF0DC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2860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C77700"/>
                </a:solidFill>
                <a:latin typeface="Arial"/>
              </a:rPr>
              <a:t>● Medium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1A1D24"/>
                </a:solidFill>
                <a:latin typeface="Arial"/>
              </a:rPr>
              <a:t>Backed, but the source is older or less authoritative. Double-check.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2103120"/>
            <a:ext cx="3383280" cy="1737360"/>
          </a:xfrm>
          <a:prstGeom prst="roundRect">
            <a:avLst/>
          </a:prstGeom>
          <a:solidFill>
            <a:srgbClr val="FBE9E8"/>
          </a:solidFill>
          <a:ln w="12700">
            <a:solidFill>
              <a:srgbClr val="D6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2860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D6312B"/>
                </a:solidFill>
                <a:latin typeface="Arial"/>
              </a:rPr>
              <a:t>● Low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1A1D24"/>
                </a:solidFill>
                <a:latin typeface="Arial"/>
              </a:rPr>
              <a:t>Not enough proof. Sent to a human expert instead of answered.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14800"/>
            <a:ext cx="10515600" cy="128016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97680"/>
            <a:ext cx="10058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A1D24"/>
                </a:solidFill>
                <a:latin typeface="Arial"/>
              </a:rPr>
              <a:t>📅  </a:t>
            </a:r>
            <a:r>
              <a:rPr sz="1500" b="1" i="0">
                <a:solidFill>
                  <a:srgbClr val="1A1D24"/>
                </a:solidFill>
                <a:latin typeface="Arial"/>
              </a:rPr>
              <a:t>Real example:</a:t>
            </a:r>
            <a:r>
              <a:rPr sz="1500" b="0" i="0">
                <a:solidFill>
                  <a:srgbClr val="1A1D24"/>
                </a:solidFill>
                <a:latin typeface="Arial"/>
              </a:rPr>
              <a:t> a decryption answer was correct — but its source hadn't been reviewed in </a:t>
            </a:r>
            <a:r>
              <a:rPr sz="1500" b="1" i="0">
                <a:solidFill>
                  <a:srgbClr val="1A1D24"/>
                </a:solidFill>
                <a:latin typeface="Arial"/>
              </a:rPr>
              <a:t>241 days</a:t>
            </a:r>
            <a:r>
              <a:rPr sz="1500" b="0" i="0">
                <a:solidFill>
                  <a:srgbClr val="1A1D24"/>
                </a:solidFill>
                <a:latin typeface="Arial"/>
              </a:rPr>
              <a:t>, so the system automatically downgraded it from High to </a:t>
            </a:r>
            <a:r>
              <a:rPr sz="1500" b="1" i="0">
                <a:solidFill>
                  <a:srgbClr val="1A1D24"/>
                </a:solidFill>
                <a:latin typeface="Arial"/>
              </a:rPr>
              <a:t>Medium</a:t>
            </a:r>
            <a:r>
              <a:rPr sz="1500" b="0" i="0">
                <a:solidFill>
                  <a:srgbClr val="1A1D24"/>
                </a:solidFill>
                <a:latin typeface="Arial"/>
              </a:rPr>
              <a:t>. Freshness is built into the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WHEN IT'S NOT SURE, A HUMAN STEPS 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D24"/>
                </a:solidFill>
                <a:latin typeface="Arial"/>
              </a:rPr>
              <a:t>The knowledge flywheel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1971446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59152"/>
            <a:ext cx="175199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D24"/>
                </a:solidFill>
                <a:latin typeface="Arial"/>
              </a:rPr>
              <a:t>🚫</a:t>
            </a:r>
          </a:p>
          <a:p>
            <a:pPr algn="ctr"/>
            <a:r>
              <a:rPr sz="1300" b="1" i="0">
                <a:solidFill>
                  <a:srgbClr val="1A1D24"/>
                </a:solidFill>
                <a:latin typeface="Arial"/>
              </a:rPr>
              <a:t>Can't answer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Arial"/>
              </a:rPr>
              <a:t>Not enough proof.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8998" y="2194560"/>
            <a:ext cx="1971446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8726" y="2359152"/>
            <a:ext cx="175199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D24"/>
                </a:solidFill>
                <a:latin typeface="Arial"/>
              </a:rPr>
              <a:t>📧</a:t>
            </a:r>
          </a:p>
          <a:p>
            <a:pPr algn="ctr"/>
            <a:r>
              <a:rPr sz="1300" b="1" i="0">
                <a:solidFill>
                  <a:srgbClr val="1A1D24"/>
                </a:solidFill>
                <a:latin typeface="Arial"/>
              </a:rPr>
              <a:t>Email the expert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Arial"/>
              </a:rPr>
              <a:t>Routed to the right SME.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5036" y="2194560"/>
            <a:ext cx="1971446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04764" y="2359152"/>
            <a:ext cx="175199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D24"/>
                </a:solidFill>
                <a:latin typeface="Arial"/>
              </a:rPr>
              <a:t>🧑‍🔬</a:t>
            </a:r>
          </a:p>
          <a:p>
            <a:pPr algn="ctr"/>
            <a:r>
              <a:rPr sz="1300" b="1" i="0">
                <a:solidFill>
                  <a:srgbClr val="1A1D24"/>
                </a:solidFill>
                <a:latin typeface="Arial"/>
              </a:rPr>
              <a:t>Expert replies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Arial"/>
              </a:rPr>
              <a:t>Writes the authoritative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1075" y="2194560"/>
            <a:ext cx="1971446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40803" y="2359152"/>
            <a:ext cx="175199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D24"/>
                </a:solidFill>
                <a:latin typeface="Arial"/>
              </a:rPr>
              <a:t>💾</a:t>
            </a:r>
          </a:p>
          <a:p>
            <a:pPr algn="ctr"/>
            <a:r>
              <a:rPr sz="1300" b="1" i="0">
                <a:solidFill>
                  <a:srgbClr val="1A1D24"/>
                </a:solidFill>
                <a:latin typeface="Arial"/>
              </a:rPr>
              <a:t>Saved forever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Arial"/>
              </a:rPr>
              <a:t>Becomes an approved source.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67113" y="2194560"/>
            <a:ext cx="1971446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76841" y="2359152"/>
            <a:ext cx="175199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D24"/>
                </a:solidFill>
                <a:latin typeface="Arial"/>
              </a:rPr>
              <a:t>⚡</a:t>
            </a:r>
          </a:p>
          <a:p>
            <a:pPr algn="ctr"/>
            <a:r>
              <a:rPr sz="1300" b="1" i="0">
                <a:solidFill>
                  <a:srgbClr val="1A1D24"/>
                </a:solidFill>
                <a:latin typeface="Arial"/>
              </a:rPr>
              <a:t>Instant next time</a:t>
            </a:r>
          </a:p>
          <a:p>
            <a:pPr algn="ctr"/>
            <a:r>
              <a:rPr sz="1050" b="0" i="0">
                <a:solidFill>
                  <a:srgbClr val="6B7280"/>
                </a:solidFill>
                <a:latin typeface="Arial"/>
              </a:rPr>
              <a:t>Everyone gets it immediately.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333842"/>
                </a:solidFill>
                <a:latin typeface="Arial"/>
              </a:rPr>
              <a:t>The system gets smarter every time an expert answers — yesterday's escalation is today's instant, cited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THE KNOWLEDGE BEHIND IT · REAL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D24"/>
                </a:solidFill>
                <a:latin typeface="Arial"/>
              </a:rPr>
              <a:t>What the assistant draws on today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011680"/>
          <a:ext cx="47548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35040" y="2194560"/>
            <a:ext cx="2468880" cy="173736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468879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0410F"/>
                </a:solidFill>
                <a:latin typeface="Arial"/>
              </a:rPr>
              <a:t>69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Arial"/>
              </a:rPr>
              <a:t>searchable passages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194560"/>
            <a:ext cx="2468880" cy="173736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468879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0410F"/>
                </a:solidFill>
                <a:latin typeface="Arial"/>
              </a:rPr>
              <a:t>3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Arial"/>
              </a:rPr>
              <a:t>product 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114800"/>
            <a:ext cx="5212080" cy="173736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4343400"/>
            <a:ext cx="4846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E8E3E"/>
                </a:solidFill>
                <a:latin typeface="Arial"/>
              </a:rPr>
              <a:t>14 fresh</a:t>
            </a:r>
            <a:r>
              <a:rPr sz="2200" b="0" i="0">
                <a:solidFill>
                  <a:srgbClr val="6B7280"/>
                </a:solidFill>
                <a:latin typeface="Arial"/>
              </a:rPr>
              <a:t>  ·  </a:t>
            </a:r>
            <a:r>
              <a:rPr sz="2200" b="1" i="0">
                <a:solidFill>
                  <a:srgbClr val="C77700"/>
                </a:solidFill>
                <a:latin typeface="Arial"/>
              </a:rPr>
              <a:t>4 flagged for review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6B7280"/>
                </a:solidFill>
                <a:latin typeface="Arial"/>
              </a:rPr>
              <a:t>The system tracks how old every source is — and flags stale ones automatically.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DOES IT ACTUALLY WORK? · REAL TEST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D24"/>
                </a:solidFill>
                <a:latin typeface="Arial"/>
              </a:rPr>
              <a:t>We tested 15 real questions across difficulty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677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1D24"/>
                </a:solidFill>
                <a:latin typeface="Arial"/>
              </a:rPr>
              <a:t>Easy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194560"/>
            <a:ext cx="7955279" cy="548640"/>
          </a:xfrm>
          <a:prstGeom prst="round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5 / 5 answered · High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449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1D24"/>
                </a:solidFill>
                <a:latin typeface="Arial"/>
              </a:rPr>
              <a:t>Medium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971800"/>
            <a:ext cx="7955279" cy="548640"/>
          </a:xfrm>
          <a:prstGeom prst="round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5 / 5 answered · Medium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22191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1D24"/>
                </a:solidFill>
                <a:latin typeface="Arial"/>
              </a:rPr>
              <a:t>Hard / not in KB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749039"/>
            <a:ext cx="7955279" cy="548640"/>
          </a:xfrm>
          <a:prstGeom prst="roundRect">
            <a:avLst/>
          </a:prstGeom>
          <a:solidFill>
            <a:srgbClr val="D6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5 / 5 correctly sent to an expert  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54880"/>
            <a:ext cx="10424160" cy="1188720"/>
          </a:xfrm>
          <a:prstGeom prst="roundRect">
            <a:avLst/>
          </a:prstGeom>
          <a:solidFill>
            <a:srgbClr val="E7F4EC"/>
          </a:solidFill>
          <a:ln w="127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9204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1E8E3E"/>
                </a:solidFill>
                <a:latin typeface="Arial"/>
              </a:rPr>
              <a:t>15 / 15   </a:t>
            </a:r>
            <a:r>
              <a:rPr sz="1700" b="0" i="0">
                <a:solidFill>
                  <a:srgbClr val="1A1D24"/>
                </a:solidFill>
                <a:latin typeface="Arial"/>
              </a:rPr>
              <a:t>correct behavior — it </a:t>
            </a:r>
            <a:r>
              <a:rPr sz="1700" b="1" i="0">
                <a:solidFill>
                  <a:srgbClr val="1A1D24"/>
                </a:solidFill>
                <a:latin typeface="Arial"/>
              </a:rPr>
              <a:t>answered</a:t>
            </a:r>
            <a:r>
              <a:rPr sz="1700" b="0" i="0">
                <a:solidFill>
                  <a:srgbClr val="1A1D24"/>
                </a:solidFill>
                <a:latin typeface="Arial"/>
              </a:rPr>
              <a:t> what it could prove, and </a:t>
            </a:r>
            <a:r>
              <a:rPr sz="1700" b="1" i="0">
                <a:solidFill>
                  <a:srgbClr val="1A1D24"/>
                </a:solidFill>
                <a:latin typeface="Arial"/>
              </a:rPr>
              <a:t>escalated</a:t>
            </a:r>
            <a:r>
              <a:rPr sz="1700" b="0" i="0">
                <a:solidFill>
                  <a:srgbClr val="1A1D24"/>
                </a:solidFill>
                <a:latin typeface="Arial"/>
              </a:rPr>
              <a:t> the rest. It never bluffed.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THE NUMBERS THAT MATTER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D24"/>
                </a:solidFill>
                <a:latin typeface="Arial"/>
              </a:rPr>
              <a:t>How we define “good” — and hit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3383280" cy="18288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E0410F"/>
                </a:solidFill>
                <a:latin typeface="Arial"/>
              </a:rPr>
              <a:t>100%</a:t>
            </a:r>
          </a:p>
          <a:p>
            <a:pPr algn="ctr"/>
            <a:r>
              <a:rPr sz="1400" b="0" i="0">
                <a:solidFill>
                  <a:srgbClr val="6B7280"/>
                </a:solidFill>
                <a:latin typeface="Arial"/>
              </a:rPr>
              <a:t>of answers carry a source citation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94560"/>
            <a:ext cx="3383280" cy="18288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4688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E0410F"/>
                </a:solidFill>
                <a:latin typeface="Arial"/>
              </a:rPr>
              <a:t>0%</a:t>
            </a:r>
          </a:p>
          <a:p>
            <a:pPr algn="ctr"/>
            <a:r>
              <a:rPr sz="1400" b="0" i="0">
                <a:solidFill>
                  <a:srgbClr val="6B7280"/>
                </a:solidFill>
                <a:latin typeface="Arial"/>
              </a:rPr>
              <a:t>use outdated / retired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2194560"/>
            <a:ext cx="3383280" cy="18288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24688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E0410F"/>
                </a:solidFill>
                <a:latin typeface="Arial"/>
              </a:rPr>
              <a:t>0</a:t>
            </a:r>
          </a:p>
          <a:p>
            <a:pPr algn="ctr"/>
            <a:r>
              <a:rPr sz="1400" b="0" i="0">
                <a:solidFill>
                  <a:srgbClr val="6B7280"/>
                </a:solidFill>
                <a:latin typeface="Arial"/>
              </a:rPr>
              <a:t>low-confidence answers shown without an expert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333842"/>
                </a:solidFill>
                <a:latin typeface="Arial"/>
              </a:rPr>
              <a:t>Success isn't “sounds smart.” It's every claim proven, nothing stale, and honesty about what it doesn't know.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WHY THIS IS DIFFERENT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D24"/>
                </a:solidFill>
                <a:latin typeface="Arial"/>
              </a:rPr>
              <a:t>Not just another chatbot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D6312B"/>
                </a:solidFill>
                <a:latin typeface="Arial"/>
              </a:rPr>
              <a:t>✕  A generic AI chatbot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A1D24"/>
                </a:solidFill>
                <a:latin typeface="Arial"/>
              </a:rPr>
              <a:t>•  Answers from the open internet &amp; memory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A1D24"/>
                </a:solidFill>
                <a:latin typeface="Arial"/>
              </a:rPr>
              <a:t>•  Sounds confident even when wrong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A1D24"/>
                </a:solidFill>
                <a:latin typeface="Arial"/>
              </a:rPr>
              <a:t>•  No proof, no source, no audit trail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A1D24"/>
                </a:solidFill>
                <a:latin typeface="Arial"/>
              </a:rPr>
              <a:t>•  Never improves from our experts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210312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E8E3E"/>
                </a:solidFill>
                <a:latin typeface="Arial"/>
              </a:rPr>
              <a:t>✓  This knowledge assistant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A1D24"/>
                </a:solidFill>
                <a:latin typeface="Arial"/>
              </a:rPr>
              <a:t>•  Answers only from approved sources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A1D24"/>
                </a:solidFill>
                <a:latin typeface="Arial"/>
              </a:rPr>
              <a:t>•  Tells you how sure it is — and why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A1D24"/>
                </a:solidFill>
                <a:latin typeface="Arial"/>
              </a:rPr>
              <a:t>•  Shows the exact quote every time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A1D24"/>
                </a:solidFill>
                <a:latin typeface="Arial"/>
              </a:rPr>
              <a:t>•  Learns from every expert answer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0410F"/>
                </a:solidFill>
                <a:latin typeface="Arial"/>
              </a:rPr>
              <a:t>WHAT'S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46304" cy="457200"/>
          </a:xfrm>
          <a:prstGeom prst="round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D24"/>
                </a:solidFill>
                <a:latin typeface="Arial"/>
              </a:rPr>
              <a:t>Where this goes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3383280" cy="246888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solidFill>
                  <a:srgbClr val="1A1D24"/>
                </a:solidFill>
                <a:latin typeface="Arial"/>
              </a:rPr>
              <a:t>🔌</a:t>
            </a:r>
          </a:p>
          <a:p>
            <a:pPr>
              <a:spcBef>
                <a:spcPts val="400"/>
              </a:spcBef>
            </a:pPr>
            <a:r>
              <a:rPr sz="1700" b="1" i="0">
                <a:solidFill>
                  <a:srgbClr val="1A1D24"/>
                </a:solidFill>
                <a:latin typeface="Arial"/>
              </a:rPr>
              <a:t>Connect more sources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6B7280"/>
                </a:solidFill>
                <a:latin typeface="Arial"/>
              </a:rPr>
              <a:t>Wikis, ticketing, and live docs — automatically kept current.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2194560"/>
            <a:ext cx="3383280" cy="246888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24231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solidFill>
                  <a:srgbClr val="1A1D24"/>
                </a:solidFill>
                <a:latin typeface="Arial"/>
              </a:rPr>
              <a:t>🧑‍🔬</a:t>
            </a:r>
          </a:p>
          <a:p>
            <a:pPr>
              <a:spcBef>
                <a:spcPts val="400"/>
              </a:spcBef>
            </a:pPr>
            <a:r>
              <a:rPr sz="1700" b="1" i="0">
                <a:solidFill>
                  <a:srgbClr val="1A1D24"/>
                </a:solidFill>
                <a:latin typeface="Arial"/>
              </a:rPr>
              <a:t>Help experts answer faster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6B7280"/>
                </a:solidFill>
                <a:latin typeface="Arial"/>
              </a:rPr>
              <a:t>Pre-draft expert replies so they edit instead of write.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1856" y="2194560"/>
            <a:ext cx="3383280" cy="246888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24231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solidFill>
                  <a:srgbClr val="1A1D24"/>
                </a:solidFill>
                <a:latin typeface="Arial"/>
              </a:rPr>
              <a:t>📈</a:t>
            </a:r>
          </a:p>
          <a:p>
            <a:pPr>
              <a:spcBef>
                <a:spcPts val="400"/>
              </a:spcBef>
            </a:pPr>
            <a:r>
              <a:rPr sz="1700" b="1" i="0">
                <a:solidFill>
                  <a:srgbClr val="1A1D24"/>
                </a:solidFill>
                <a:latin typeface="Arial"/>
              </a:rPr>
              <a:t>Measure deal impact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6B7280"/>
                </a:solidFill>
                <a:latin typeface="Arial"/>
              </a:rPr>
              <a:t>Track faster answers, fewer interruptions, more wins.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333842"/>
                </a:solidFill>
                <a:latin typeface="Arial"/>
              </a:rPr>
              <a:t>The foundation is the part that earns trust — proof, honest confidence, and human experts in the loop.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1828800" cy="457200"/>
          </a:xfrm>
          <a:prstGeom prst="roundRect">
            <a:avLst/>
          </a:prstGeom>
          <a:solidFill>
            <a:srgbClr val="FBE9E8"/>
          </a:solidFill>
          <a:ln w="12700">
            <a:solidFill>
              <a:srgbClr val="D6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E0410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A1D24"/>
                </a:solidFill>
                <a:latin typeface="Arial"/>
              </a:rPr>
              <a:t>Answers our teams can stand behind.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333842"/>
                </a:solidFill>
                <a:latin typeface="Arial"/>
              </a:rPr>
              <a:t>Only approved sources · the exact proof shown · honest confidence · experts in the loop · smarter every 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